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4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35235b037a4d35" /><Relationship Type="http://schemas.openxmlformats.org/officeDocument/2006/relationships/extended-properties" Target="/docProps/app.xml" Id="R38b359b3074e4b3d" /><Relationship Type="http://schemas.openxmlformats.org/officeDocument/2006/relationships/officeDocument" Target="/ppt/presentation.xml" Id="Rc2f7dd34515542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c8dd52bfa64203"/>
  </p:sldMasterIdLst>
  <p:notesMasterIdLst>
    <p:notesMasterId xmlns:r="http://schemas.openxmlformats.org/officeDocument/2006/relationships" r:id="R197083729a16480c"/>
  </p:notesMasterIdLst>
  <p:sldIdLst>
    <p:sldId xmlns:r="http://schemas.openxmlformats.org/officeDocument/2006/relationships" id="256" r:id="Rdcf5c1eb5130449f"/>
    <p:sldId xmlns:r="http://schemas.openxmlformats.org/officeDocument/2006/relationships" id="257" r:id="R69e458d7438040d9"/>
    <p:sldId xmlns:r="http://schemas.openxmlformats.org/officeDocument/2006/relationships" id="258" r:id="R721e670d94fa4a61"/>
    <p:sldId xmlns:r="http://schemas.openxmlformats.org/officeDocument/2006/relationships" id="259" r:id="R4bfcdf1422af4f32"/>
    <p:sldId xmlns:r="http://schemas.openxmlformats.org/officeDocument/2006/relationships" id="260" r:id="Rbb9afc000bd247c9"/>
    <p:sldId xmlns:r="http://schemas.openxmlformats.org/officeDocument/2006/relationships" id="261" r:id="R56778e619fab46d7"/>
    <p:sldId xmlns:r="http://schemas.openxmlformats.org/officeDocument/2006/relationships" id="262" r:id="R06a6a25d90f547ab"/>
    <p:sldId xmlns:r="http://schemas.openxmlformats.org/officeDocument/2006/relationships" id="263" r:id="R21e9d83156604289"/>
    <p:sldId xmlns:r="http://schemas.openxmlformats.org/officeDocument/2006/relationships" id="264" r:id="Rf27e480c9fc349d4"/>
    <p:sldId xmlns:r="http://schemas.openxmlformats.org/officeDocument/2006/relationships" id="265" r:id="R229e43705ec242ec"/>
    <p:sldId xmlns:r="http://schemas.openxmlformats.org/officeDocument/2006/relationships" id="266" r:id="R8e64b9795ca14329"/>
    <p:sldId xmlns:r="http://schemas.openxmlformats.org/officeDocument/2006/relationships" id="267" r:id="Ra8cce7725aaa4539"/>
    <p:sldId xmlns:r="http://schemas.openxmlformats.org/officeDocument/2006/relationships" id="268" r:id="R0fcc1693ec064135"/>
    <p:sldId xmlns:r="http://schemas.openxmlformats.org/officeDocument/2006/relationships" id="269" r:id="Ra3955e1d71d84b81"/>
    <p:sldId xmlns:r="http://schemas.openxmlformats.org/officeDocument/2006/relationships" id="270" r:id="Rda644b1ebe8d4106"/>
    <p:sldId xmlns:r="http://schemas.openxmlformats.org/officeDocument/2006/relationships" id="271" r:id="R7b571c019ef946a7"/>
    <p:sldId xmlns:r="http://schemas.openxmlformats.org/officeDocument/2006/relationships" id="272" r:id="R43dd52a9d33b4c7b"/>
    <p:sldId xmlns:r="http://schemas.openxmlformats.org/officeDocument/2006/relationships" id="273" r:id="R3680a8f998d649c9"/>
    <p:sldId xmlns:r="http://schemas.openxmlformats.org/officeDocument/2006/relationships" id="274" r:id="R1372e179dbcc4f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cf89fab3af4f78" /><Relationship Type="http://schemas.openxmlformats.org/officeDocument/2006/relationships/slideMaster" Target="/ppt/slideMasters/slideMaster1.xml" Id="Rcdc8dd52bfa64203" /><Relationship Type="http://schemas.openxmlformats.org/officeDocument/2006/relationships/notesMaster" Target="/ppt/notesMasters/notesMaster1.xml" Id="R197083729a16480c" /><Relationship Type="http://schemas.openxmlformats.org/officeDocument/2006/relationships/presProps" Target="/ppt/presProps.xml" Id="R0d4c501a2a0842b3" /><Relationship Type="http://schemas.openxmlformats.org/officeDocument/2006/relationships/viewProps" Target="/ppt/viewProps.xml" Id="R3a55d6f3a8404894" /><Relationship Type="http://schemas.openxmlformats.org/officeDocument/2006/relationships/tableStyles" Target="/ppt/tableStyles.xml" Id="R42699ce9fe4d4d60" /><Relationship Type="http://schemas.openxmlformats.org/officeDocument/2006/relationships/slide" Target="/ppt/slides/slide1.xml" Id="Rdcf5c1eb5130449f" /><Relationship Type="http://schemas.openxmlformats.org/officeDocument/2006/relationships/slide" Target="/ppt/slides/slide2.xml" Id="R69e458d7438040d9" /><Relationship Type="http://schemas.openxmlformats.org/officeDocument/2006/relationships/slide" Target="/ppt/slides/slide3.xml" Id="R721e670d94fa4a61" /><Relationship Type="http://schemas.openxmlformats.org/officeDocument/2006/relationships/slide" Target="/ppt/slides/slide4.xml" Id="R4bfcdf1422af4f32" /><Relationship Type="http://schemas.openxmlformats.org/officeDocument/2006/relationships/slide" Target="/ppt/slides/slide5.xml" Id="Rbb9afc000bd247c9" /><Relationship Type="http://schemas.openxmlformats.org/officeDocument/2006/relationships/slide" Target="/ppt/slides/slide6.xml" Id="R56778e619fab46d7" /><Relationship Type="http://schemas.openxmlformats.org/officeDocument/2006/relationships/slide" Target="/ppt/slides/slide7.xml" Id="R06a6a25d90f547ab" /><Relationship Type="http://schemas.openxmlformats.org/officeDocument/2006/relationships/slide" Target="/ppt/slides/slide8.xml" Id="R21e9d83156604289" /><Relationship Type="http://schemas.openxmlformats.org/officeDocument/2006/relationships/slide" Target="/ppt/slides/slide9.xml" Id="Rf27e480c9fc349d4" /><Relationship Type="http://schemas.openxmlformats.org/officeDocument/2006/relationships/slide" Target="/ppt/slides/slide10.xml" Id="R229e43705ec242ec" /><Relationship Type="http://schemas.openxmlformats.org/officeDocument/2006/relationships/slide" Target="/ppt/slides/slide11.xml" Id="R8e64b9795ca14329" /><Relationship Type="http://schemas.openxmlformats.org/officeDocument/2006/relationships/slide" Target="/ppt/slides/slide12.xml" Id="Ra8cce7725aaa4539" /><Relationship Type="http://schemas.openxmlformats.org/officeDocument/2006/relationships/slide" Target="/ppt/slides/slide13.xml" Id="R0fcc1693ec064135" /><Relationship Type="http://schemas.openxmlformats.org/officeDocument/2006/relationships/slide" Target="/ppt/slides/slide14.xml" Id="Ra3955e1d71d84b81" /><Relationship Type="http://schemas.openxmlformats.org/officeDocument/2006/relationships/slide" Target="/ppt/slides/slide15.xml" Id="Rda644b1ebe8d4106" /><Relationship Type="http://schemas.openxmlformats.org/officeDocument/2006/relationships/slide" Target="/ppt/slides/slide16.xml" Id="R7b571c019ef946a7" /><Relationship Type="http://schemas.openxmlformats.org/officeDocument/2006/relationships/slide" Target="/ppt/slides/slide17.xml" Id="R43dd52a9d33b4c7b" /><Relationship Type="http://schemas.openxmlformats.org/officeDocument/2006/relationships/slide" Target="/ppt/slides/slide18.xml" Id="R3680a8f998d649c9" /><Relationship Type="http://schemas.openxmlformats.org/officeDocument/2006/relationships/slide" Target="/ppt/slides/slide19.xml" Id="R1372e179dbcc4f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8e498f935242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848a05b5c44598" /><Relationship Type="http://schemas.openxmlformats.org/officeDocument/2006/relationships/notesMaster" Target="/ppt/notesMasters/notesMaster1.xml" Id="Rf750cefec25248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7c5390b6524088" /><Relationship Type="http://schemas.openxmlformats.org/officeDocument/2006/relationships/notesMaster" Target="/ppt/notesMasters/notesMaster1.xml" Id="Rfddbba8e71d24d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b66117f16d4446" /><Relationship Type="http://schemas.openxmlformats.org/officeDocument/2006/relationships/notesMaster" Target="/ppt/notesMasters/notesMaster1.xml" Id="Re3ca3d246d7b49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e8b5a374d5431a" /><Relationship Type="http://schemas.openxmlformats.org/officeDocument/2006/relationships/notesMaster" Target="/ppt/notesMasters/notesMaster1.xml" Id="Rce131b09b9534e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854c29088247a3" /><Relationship Type="http://schemas.openxmlformats.org/officeDocument/2006/relationships/notesMaster" Target="/ppt/notesMasters/notesMaster1.xml" Id="R6158b535f19b49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ae9c88253d4d87" /><Relationship Type="http://schemas.openxmlformats.org/officeDocument/2006/relationships/notesMaster" Target="/ppt/notesMasters/notesMaster1.xml" Id="Re7eda5a5a0c04a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42ad88284f4103" /><Relationship Type="http://schemas.openxmlformats.org/officeDocument/2006/relationships/notesMaster" Target="/ppt/notesMasters/notesMaster1.xml" Id="R745a38bd362b4d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80255c83dd400b" /><Relationship Type="http://schemas.openxmlformats.org/officeDocument/2006/relationships/notesMaster" Target="/ppt/notesMasters/notesMaster1.xml" Id="Rb290e16b846a4a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afaa82b9694a55" /><Relationship Type="http://schemas.openxmlformats.org/officeDocument/2006/relationships/notesMaster" Target="/ppt/notesMasters/notesMaster1.xml" Id="R8769fbb892324d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5c8a2640814916" /><Relationship Type="http://schemas.openxmlformats.org/officeDocument/2006/relationships/notesMaster" Target="/ppt/notesMasters/notesMaster1.xml" Id="R15dfc8be30d14c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49fd230d2943f9" /><Relationship Type="http://schemas.openxmlformats.org/officeDocument/2006/relationships/notesMaster" Target="/ppt/notesMasters/notesMaster1.xml" Id="R7aa29ddab14e4c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5d3c1c4f52426d" /><Relationship Type="http://schemas.openxmlformats.org/officeDocument/2006/relationships/notesMaster" Target="/ppt/notesMasters/notesMaster1.xml" Id="R0d9a829a0c344a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66a398187644af" /><Relationship Type="http://schemas.openxmlformats.org/officeDocument/2006/relationships/notesMaster" Target="/ppt/notesMasters/notesMaster1.xml" Id="R758842f1860e41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857247f9b64888" /><Relationship Type="http://schemas.openxmlformats.org/officeDocument/2006/relationships/notesMaster" Target="/ppt/notesMasters/notesMaster1.xml" Id="R6234a748d3a54b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1e0dd077387479e" /><Relationship Type="http://schemas.openxmlformats.org/officeDocument/2006/relationships/notesMaster" Target="/ppt/notesMasters/notesMaster1.xml" Id="Rfe556c70b9a1411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e6c167ed35349ed" /><Relationship Type="http://schemas.openxmlformats.org/officeDocument/2006/relationships/notesMaster" Target="/ppt/notesMasters/notesMaster1.xml" Id="Rb9ff49874ac846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65f8fa20224dfa" /><Relationship Type="http://schemas.openxmlformats.org/officeDocument/2006/relationships/notesMaster" Target="/ppt/notesMasters/notesMaster1.xml" Id="R94fb7c1ff6aa4e0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beac849ece0422b" /><Relationship Type="http://schemas.openxmlformats.org/officeDocument/2006/relationships/notesMaster" Target="/ppt/notesMasters/notesMaster1.xml" Id="R3fd73db9eda7439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59f7be8f7d94523" /><Relationship Type="http://schemas.openxmlformats.org/officeDocument/2006/relationships/notesMaster" Target="/ppt/notesMasters/notesMaster1.xml" Id="R18563ce346d549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3f2d96715479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e336320c66465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STER"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70132BD-18FD-42C4-8E79-17ABB217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C855969-469C-4D2D-A671-BC418F05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492"/>
                </a:solidFill>
                <a:latin typeface="Aptos"/>
                <a:ea typeface="Aptos"/>
                <a:cs typeface="Aptos"/>
              </a:rPr>
              <a:t>Reto Compartamos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2987250-8235-4BC3-B72E-0067F2F4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6473952"/>
            <a:ext cx="32004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A0A7B2"/>
                </a:solidFill>
                <a:latin typeface="Aptos"/>
                <a:ea typeface="Aptos"/>
                <a:cs typeface="Aptos"/>
              </a:rPr>
              <a:t>Gestión del Riesgo Crediticio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6CA9681-D1C1-48BC-BB75-942A489FB44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008967d3744bd0" /><Relationship Type="http://schemas.openxmlformats.org/officeDocument/2006/relationships/slideLayout" Target="/ppt/slideLayouts/slideLayout1.xml" Id="R0ede323e774f4216" /><Relationship Type="http://schemas.openxmlformats.org/officeDocument/2006/relationships/slideLayout" Target="/ppt/slideLayouts/slideLayout2.xml" Id="Rca197afc5b9046a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88E1DB-DED3-42EE-93B3-4A29DBE1BBF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de323e774f4216"/>
    <p:sldLayoutId xmlns:r="http://schemas.openxmlformats.org/officeDocument/2006/relationships" id="2147483650" r:id="Rca197afc5b9046a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a9f457b994b53" /><Relationship Type="http://schemas.openxmlformats.org/officeDocument/2006/relationships/notesSlide" Target="/ppt/notesSlides/notesSlide1.xml" Id="R646f84f87c744d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87b82ce63247f2" /><Relationship Type="http://schemas.openxmlformats.org/officeDocument/2006/relationships/notesSlide" Target="/ppt/notesSlides/notesSlide2.xml" Id="R0f70fd686ab544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eb013eb6c461d" /><Relationship Type="http://schemas.openxmlformats.org/officeDocument/2006/relationships/notesSlide" Target="/ppt/notesSlides/notesSlide3.xml" Id="Rd6ef9f1df1d642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1a062ee9b74869" /><Relationship Type="http://schemas.openxmlformats.org/officeDocument/2006/relationships/notesSlide" Target="/ppt/notesSlides/notesSlide4.xml" Id="Rcc2ff33f030548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e3b677984b42b5" /><Relationship Type="http://schemas.openxmlformats.org/officeDocument/2006/relationships/notesSlide" Target="/ppt/notesSlides/notesSlide5.xml" Id="R3a2ec39b758d44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ed4b6e79f54e3e" /><Relationship Type="http://schemas.openxmlformats.org/officeDocument/2006/relationships/notesSlide" Target="/ppt/notesSlides/notesSlide6.xml" Id="R6647ba166d6046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bbeefe2ade464f" /><Relationship Type="http://schemas.openxmlformats.org/officeDocument/2006/relationships/notesSlide" Target="/ppt/notesSlides/notesSlide7.xml" Id="R945588b576c943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60b7f0cd55421e" /><Relationship Type="http://schemas.openxmlformats.org/officeDocument/2006/relationships/notesSlide" Target="/ppt/notesSlides/notesSlide8.xml" Id="Rf07da2fa886247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03ec6a152e473e" /><Relationship Type="http://schemas.openxmlformats.org/officeDocument/2006/relationships/chart" Target="/ppt/slides/charts/chart1.xml" Id="R464860c5099b402d" /><Relationship Type="http://schemas.openxmlformats.org/officeDocument/2006/relationships/notesSlide" Target="/ppt/notesSlides/notesSlide9.xml" Id="Rec0244299b8746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a54d88a7ce4797" /><Relationship Type="http://schemas.openxmlformats.org/officeDocument/2006/relationships/chart" Target="/ppt/slides/charts/chart2.xml" Id="R3810583b641346a3" /><Relationship Type="http://schemas.openxmlformats.org/officeDocument/2006/relationships/notesSlide" Target="/ppt/notesSlides/notesSlide10.xml" Id="R473ad7808ed34d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9087da3c2349b7" /><Relationship Type="http://schemas.openxmlformats.org/officeDocument/2006/relationships/notesSlide" Target="/ppt/notesSlides/notesSlide11.xml" Id="R048bd6401c9c46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cc4e9ab3c0472f" /><Relationship Type="http://schemas.openxmlformats.org/officeDocument/2006/relationships/chart" Target="/ppt/slides/charts/chart3.xml" Id="Rb24498ad56824725" /><Relationship Type="http://schemas.openxmlformats.org/officeDocument/2006/relationships/notesSlide" Target="/ppt/notesSlides/notesSlide12.xml" Id="R42e7a64b2ae743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18e61404524838" /><Relationship Type="http://schemas.openxmlformats.org/officeDocument/2006/relationships/chart" Target="/ppt/slides/charts/chart4.xml" Id="R8fb1eb5b6c084124" /><Relationship Type="http://schemas.openxmlformats.org/officeDocument/2006/relationships/notesSlide" Target="/ppt/notesSlides/notesSlide13.xml" Id="R1a168bd747dc4a2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640e1d07f8422e" /><Relationship Type="http://schemas.openxmlformats.org/officeDocument/2006/relationships/notesSlide" Target="/ppt/notesSlides/notesSlide14.xml" Id="Rdc1a5d82700a4d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748fc5459449bd" /><Relationship Type="http://schemas.openxmlformats.org/officeDocument/2006/relationships/notesSlide" Target="/ppt/notesSlides/notesSlide15.xml" Id="R5023bf4dbae747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33d869536342bc" /><Relationship Type="http://schemas.openxmlformats.org/officeDocument/2006/relationships/notesSlide" Target="/ppt/notesSlides/notesSlide16.xml" Id="Rd79d5aad37e04d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3c6d78153f470f" /><Relationship Type="http://schemas.openxmlformats.org/officeDocument/2006/relationships/notesSlide" Target="/ppt/notesSlides/notesSlide17.xml" Id="Re149394b19ea4d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1899a8a1c24188" /><Relationship Type="http://schemas.openxmlformats.org/officeDocument/2006/relationships/notesSlide" Target="/ppt/notesSlides/notesSlide18.xml" Id="Rce3932c0a9884fc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d2cbd13dff4081" /><Relationship Type="http://schemas.openxmlformats.org/officeDocument/2006/relationships/notesSlide" Target="/ppt/notesSlides/notesSlide19.xml" Id="R7af86a43d2d74085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</c:v>
                </c:pt>
              </c:strCache>
            </c:strRef>
          </c:tx>
          <c:spPr>
            <a:solidFill xmlns:a="http://schemas.openxmlformats.org/drawingml/2006/main">
              <a:srgbClr val="0F5ED7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VALIDATION</c:v>
                </c:pt>
                <c:pt idx="2">
                  <c:v>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0.599015</c:v>
                </c:pt>
                <c:pt idx="1">
                  <c:v>0.581576</c:v>
                </c:pt>
                <c:pt idx="2">
                  <c:v>0.592741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0.65"/>
          <c:min val="0.5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0.05"/>
      </c:valAx>
      <c:spPr>
        <a:noFill xmlns:a="http://schemas.openxmlformats.org/drawingml/2006/main"/>
        <a:ln xmlns:a="http://schemas.openxmlformats.org/drawingml/2006/main" w="12700">
          <a:solidFill>
            <a:srgbClr val="FFFFFF"/>
          </a:solidFill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2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 promedio</c:v>
                </c:pt>
              </c:strCache>
            </c:strRef>
          </c:tx>
          <c:spPr>
            <a:solidFill xmlns:a="http://schemas.openxmlformats.org/drawingml/2006/main">
              <a:srgbClr val="0F5ED7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</c:v>
                </c:pt>
                <c:pt idx="2">
                  <c:v>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16.02</c:v>
                </c:pt>
                <c:pt idx="1">
                  <c:v>15.88</c:v>
                </c:pt>
                <c:pt idx="2">
                  <c:v>16.54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Bad Rate real</c:v>
                </c:pt>
              </c:strCache>
            </c:strRef>
          </c:tx>
          <c:spPr>
            <a:solidFill xmlns:a="http://schemas.openxmlformats.org/drawingml/2006/main">
              <a:srgbClr val="F4B000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</c:v>
                </c:pt>
                <c:pt idx="2">
                  <c:v>OOT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16.02</c:v>
                </c:pt>
                <c:pt idx="1">
                  <c:v>14.95</c:v>
                </c:pt>
                <c:pt idx="2">
                  <c:v>14.13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5"/>
      </c:valAx>
      <c:spPr>
        <a:noFill xmlns:a="http://schemas.openxmlformats.org/drawingml/2006/main"/>
        <a:ln xmlns:a="http://schemas.openxmlformats.org/drawingml/2006/main" w="12700">
          <a:solidFill>
            <a:srgbClr val="FFFFFF"/>
          </a:solidFill>
        </a:ln>
      </c:spPr>
    </c:plotArea>
    <c:legend>
      <c:legendPos val="b"/>
      <c:overlay val="0"/>
    </c:legend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3.xml><?xml version="1.0" encoding="utf-8"?>
<c:chartSpace xmlns:c="http://schemas.openxmlformats.org/drawingml/2006/chart">
  <c:lang val="en-US"/>
  <c:roundedCorners val="1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 xmlns:a="http://schemas.openxmlformats.org/drawingml/2006/main">
              <a:srgbClr val="1B8F8A"/>
            </a:solidFill>
            <a:ln xmlns:a="http://schemas.openxmlformats.org/drawingml/2006/main" w="25400">
              <a:solidFill>
                <a:srgbClr val="1B8F8A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1B8F8A"/>
              </a:solidFill>
              <a:ln xmlns:a="http://schemas.openxmlformats.org/drawingml/2006/main" w="9525">
                <a:solidFill>
                  <a:srgbClr val="1B8F8A"/>
                </a:solidFill>
                <a:prstDash val="solid"/>
              </a:ln>
            </c:spPr>
          </c:marke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17%</c:v>
                </c:pt>
                <c:pt idx="1">
                  <c:v>18%</c:v>
                </c:pt>
                <c:pt idx="2">
                  <c:v>19%</c:v>
                </c:pt>
                <c:pt idx="3">
                  <c:v>20%</c:v>
                </c:pt>
                <c:pt idx="4">
                  <c:v>21%</c:v>
                </c:pt>
                <c:pt idx="5">
                  <c:v>22%</c:v>
                </c:pt>
                <c:pt idx="6">
                  <c:v>23%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7.02</c:v>
                </c:pt>
                <c:pt idx="1">
                  <c:v>7.28</c:v>
                </c:pt>
                <c:pt idx="2">
                  <c:v>7.67</c:v>
                </c:pt>
                <c:pt idx="3">
                  <c:v>8.02</c:v>
                </c:pt>
                <c:pt idx="4">
                  <c:v>8.26</c:v>
                </c:pt>
                <c:pt idx="5">
                  <c:v>8.52</c:v>
                </c:pt>
                <c:pt idx="6">
                  <c:v>8.79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OOT</c:v>
                </c:pt>
              </c:strCache>
            </c:strRef>
          </c:tx>
          <c:spPr>
            <a:solidFill xmlns:a="http://schemas.openxmlformats.org/drawingml/2006/main">
              <a:srgbClr val="0F5ED7"/>
            </a:solidFill>
            <a:ln xmlns:a="http://schemas.openxmlformats.org/drawingml/2006/main" w="25400">
              <a:solidFill>
                <a:srgbClr val="0F5ED7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0F5ED7"/>
              </a:solidFill>
              <a:ln xmlns:a="http://schemas.openxmlformats.org/drawingml/2006/main" w="9525">
                <a:solidFill>
                  <a:srgbClr val="0F5ED7"/>
                </a:solidFill>
                <a:prstDash val="solid"/>
              </a:ln>
            </c:spPr>
          </c:marke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17%</c:v>
                </c:pt>
                <c:pt idx="1">
                  <c:v>18%</c:v>
                </c:pt>
                <c:pt idx="2">
                  <c:v>19%</c:v>
                </c:pt>
                <c:pt idx="3">
                  <c:v>20%</c:v>
                </c:pt>
                <c:pt idx="4">
                  <c:v>21%</c:v>
                </c:pt>
                <c:pt idx="5">
                  <c:v>22%</c:v>
                </c:pt>
                <c:pt idx="6">
                  <c:v>23%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6.02</c:v>
                </c:pt>
                <c:pt idx="1">
                  <c:v>6.38</c:v>
                </c:pt>
                <c:pt idx="2">
                  <c:v>6.62</c:v>
                </c:pt>
                <c:pt idx="3">
                  <c:v>6.96</c:v>
                </c:pt>
                <c:pt idx="4">
                  <c:v>7.28</c:v>
                </c:pt>
                <c:pt idx="5">
                  <c:v>7.48</c:v>
                </c:pt>
                <c:pt idx="6">
                  <c:v>7.67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Objetivo 8%</c:v>
                </c:pt>
              </c:strCache>
            </c:strRef>
          </c:tx>
          <c:spPr>
            <a:solidFill xmlns:a="http://schemas.openxmlformats.org/drawingml/2006/main">
              <a:srgbClr val="D95656"/>
            </a:solidFill>
            <a:ln xmlns:a="http://schemas.openxmlformats.org/drawingml/2006/main" w="25400">
              <a:solidFill>
                <a:srgbClr val="D95656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D95656"/>
              </a:solidFill>
              <a:ln xmlns:a="http://schemas.openxmlformats.org/drawingml/2006/main" w="9525">
                <a:solidFill>
                  <a:srgbClr val="D95656"/>
                </a:solidFill>
                <a:prstDash val="solid"/>
              </a:ln>
            </c:spPr>
          </c:marke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17%</c:v>
                </c:pt>
                <c:pt idx="1">
                  <c:v>18%</c:v>
                </c:pt>
                <c:pt idx="2">
                  <c:v>19%</c:v>
                </c:pt>
                <c:pt idx="3">
                  <c:v>20%</c:v>
                </c:pt>
                <c:pt idx="4">
                  <c:v>21%</c:v>
                </c:pt>
                <c:pt idx="5">
                  <c:v>22%</c:v>
                </c:pt>
                <c:pt idx="6">
                  <c:v>23%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9.2"/>
          <c:min val="5.5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0.5"/>
      </c:valAx>
      <c:spPr>
        <a:noFill xmlns:a="http://schemas.openxmlformats.org/drawingml/2006/main"/>
        <a:ln xmlns:a="http://schemas.openxmlformats.org/drawingml/2006/main" w="12700">
          <a:solidFill>
            <a:srgbClr val="FFFFFF"/>
          </a:solidFill>
        </a:ln>
      </c:spPr>
    </c:plotArea>
    <c:legend>
      <c:legendPos val="b"/>
      <c:overlay val="0"/>
    </c:legend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4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Logística WOE</c:v>
                </c:pt>
              </c:strCache>
            </c:strRef>
          </c:tx>
          <c:spPr>
            <a:solidFill xmlns:a="http://schemas.openxmlformats.org/drawingml/2006/main">
              <a:srgbClr val="0F5ED7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VALIDATION</c:v>
                </c:pt>
                <c:pt idx="2">
                  <c:v>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0.599015</c:v>
                </c:pt>
                <c:pt idx="1">
                  <c:v>0.581576</c:v>
                </c:pt>
                <c:pt idx="2">
                  <c:v>0.592741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CatBoost</c:v>
                </c:pt>
              </c:strCache>
            </c:strRef>
          </c:tx>
          <c:spPr>
            <a:solidFill xmlns:a="http://schemas.openxmlformats.org/drawingml/2006/main">
              <a:srgbClr val="F4B000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VALIDATION</c:v>
                </c:pt>
                <c:pt idx="2">
                  <c:v>OOT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0.726198</c:v>
                </c:pt>
                <c:pt idx="1">
                  <c:v>0.616185</c:v>
                </c:pt>
                <c:pt idx="2">
                  <c:v>0.609139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0.75"/>
          <c:min val="0.55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0.05"/>
      </c:valAx>
      <c:spPr>
        <a:noFill xmlns:a="http://schemas.openxmlformats.org/drawingml/2006/main"/>
        <a:ln xmlns:a="http://schemas.openxmlformats.org/drawingml/2006/main" w="12700">
          <a:solidFill>
            <a:srgbClr val="FFFFFF"/>
          </a:solidFill>
        </a:ln>
      </c:spPr>
    </c:plotArea>
    <c:legend>
      <c:legendPos val="b"/>
      <c:overlay val="0"/>
    </c:legend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8F541C-CFED-4629-AEAE-C11EFFD9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05A1846-FF2F-4D4F-97F1-5CD6DA61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4F14D39-3F63-4B4C-B58E-6FAB1403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143000"/>
            <a:ext cx="68580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Gestión del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Riesgo Crediticio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48B75A-FFBA-4E2D-AFD6-6E50C752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788920"/>
            <a:ext cx="3840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8E5F3"/>
                </a:solidFill>
              </a:rPr>
              <a:t>Reto Compartamos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7806204-20B8-423D-9D5F-B3AE241C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10128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B8C6D6"/>
                </a:solidFill>
              </a:rPr>
              <a:t>Una política de renovación explicable, estable y accionable</a:t>
            </a:r>
            <a:endParaRPr sz="17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E304ABF-AAEF-4A02-9E34-FB1E7114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234440"/>
            <a:ext cx="3200400" cy="3474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15240">
            <a:solidFill>
              <a:srgbClr val="2C4964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7B32A7B-A3B0-499D-B971-7EC36BBC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783080"/>
            <a:ext cx="2651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4B000"/>
                </a:solidFill>
              </a:rPr>
              <a:t>PD &lt; 20%</a:t>
            </a:r>
            <a:endParaRPr sz="3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799653A-4B51-41A2-922C-3FCBB621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487168"/>
            <a:ext cx="2651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regla final de renovación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C78F9FB-647A-4896-9D9C-580CFC24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944368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47627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2B0D392-C0F9-4CD2-B0DB-B895D19A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182112"/>
            <a:ext cx="2651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</a:rPr>
              <a:t>73.47%</a:t>
            </a:r>
            <a:endParaRPr sz="2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17E7F8A-1543-4F00-AB04-242AF324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611880"/>
            <a:ext cx="2651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B8C6D6"/>
                </a:solidFill>
              </a:rPr>
              <a:t>aprobación OOT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05A73C0-3EED-4EAF-998D-E96FF06F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977640"/>
            <a:ext cx="2651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</a:rPr>
              <a:t>6.96%</a:t>
            </a:r>
            <a:endParaRPr sz="2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4138E4E-56F4-42C6-B38E-5F330846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07408"/>
            <a:ext cx="2651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B8C6D6"/>
                </a:solidFill>
              </a:rPr>
              <a:t>Bad Rate aprobados OOT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C2293E3-5ED3-4012-9D22-0541BE00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44768"/>
            <a:ext cx="6035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9EB0C4"/>
                </a:solidFill>
              </a:rPr>
              <a:t>WOE + Regresión Logística · 18 variables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5660175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479A12-2B73-42AD-B87C-B3617B69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Entendiendo nuestra cartera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F89EE1-8DCF-485F-85A4-7242B4F0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Una base real reducida por seguridad, con suficiente historia temporal para validar comportamiento futuro.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70F5C8C-7758-4C98-9A44-CA1A8CBA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146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0BFA214-CC7F-4CA7-8071-6C5B14E3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E6894D1-E432-4A4F-9956-7AEB51D2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563624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60,000</a:t>
            </a:r>
            <a:endParaRPr sz="2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103B3B-D640-45F2-A9E5-7B6F6E54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93392"/>
            <a:ext cx="2194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Observaciones</a:t>
            </a:r>
            <a:endParaRPr sz="1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908EDE-634F-4616-A904-AF0811E8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945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12 meses de comportamiento</a:t>
            </a:r>
            <a:endParaRPr sz="9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9094ABD-F170-47F8-A3E4-4BE6A90F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25146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9D7260E-5B89-44F0-9C30-4325B39C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8F8FDF7-9E44-4D09-85B6-F7C96F95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1563624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49</a:t>
            </a:r>
            <a:endParaRPr sz="2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5B3D94C-DBEF-43C0-A2CC-AE996AF2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1993392"/>
            <a:ext cx="2194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Columnas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77F9CB-BC9A-473F-8A11-4ECC63C8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249424"/>
            <a:ext cx="21945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versión reducida para el reto</a:t>
            </a:r>
            <a:endParaRPr sz="9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BEB2B09-8255-4064-A9D1-6CC0E4C7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17320"/>
            <a:ext cx="25146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15E2E2B-829D-4B8B-96F5-0D20E7B1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17320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656"/>
          </a:solidFill>
          <a:ln xmlns:a="http://schemas.openxmlformats.org/drawingml/2006/main" w="12700">
            <a:solidFill>
              <a:srgbClr val="D9565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74F4B6F-9094-4675-AB63-810ABDFD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563624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15.48%</a:t>
            </a:r>
            <a:endParaRPr sz="23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D372EA5-3E1A-4B43-978A-1946ABB3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93392"/>
            <a:ext cx="2194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Bad Rate global</a:t>
            </a:r>
            <a:endParaRPr sz="1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829EA22-B280-4EFC-97DB-4FC931BC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249424"/>
            <a:ext cx="21945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TARGET = 1 representa evento malo</a:t>
            </a:r>
            <a:endParaRPr sz="9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477B685-DD44-4888-8B8A-9EA2552D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417320"/>
            <a:ext cx="2514600" cy="132588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F395F27-CA8E-4EF9-9EDF-E6F709AA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417320"/>
            <a:ext cx="54864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5CF8207-5AFE-4497-81FE-05CEC32E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1563624"/>
            <a:ext cx="21945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202306–202405</a:t>
            </a:r>
            <a:endParaRPr sz="2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EF386D6-C30B-4E32-90C2-46CD05CF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1993392"/>
            <a:ext cx="2194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Ventana temporal</a:t>
            </a:r>
            <a:endParaRPr sz="11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5AB9E8E-0474-4938-A3B5-B5BFA0C4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2249424"/>
            <a:ext cx="21945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partición estrictamente temporal</a:t>
            </a:r>
            <a:endParaRPr sz="9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A5B4E24-9D1E-41A3-8B13-0F89CF81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Partición temporal</a:t>
            </a:r>
            <a:endParaRPr sz="16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28D150F-89B8-4EB9-BCB3-3DBD57E0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94760"/>
            <a:ext cx="48006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5ED7">
              <a:alpha val="94000"/>
            </a:srgbClr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99E6B86-6155-48CE-8132-A1F06FA0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968496"/>
            <a:ext cx="447141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TRAIN</a:t>
            </a:r>
            <a:endParaRPr sz="12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2A61881-FA16-4264-9BDF-B489E843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242816"/>
            <a:ext cx="44714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DF4FA"/>
                </a:solidFill>
              </a:rPr>
              <a:t>hasta 202401</a:t>
            </a:r>
            <a:endParaRPr sz="10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52475B4-34BA-4470-AE14-EF0F5244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507992"/>
            <a:ext cx="447141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</a:rPr>
              <a:t>Bad Rate 16.02%</a:t>
            </a:r>
            <a:endParaRPr sz="11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8C49646-9119-49C8-9988-88C4C852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794760"/>
            <a:ext cx="25146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8F8A">
              <a:alpha val="94000"/>
            </a:srgbClr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46A54B4-9E23-49D2-A5B6-BD2EB550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968496"/>
            <a:ext cx="218541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VALIDATION</a:t>
            </a:r>
            <a:endParaRPr sz="12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7323383-1432-4539-8B7F-163221E8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4242816"/>
            <a:ext cx="218541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DF4FA"/>
                </a:solidFill>
              </a:rPr>
              <a:t>202402–202403</a:t>
            </a:r>
            <a:endParaRPr sz="10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4315D61-9F18-4AB4-8521-076A120C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4507992"/>
            <a:ext cx="218541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</a:rPr>
              <a:t>Bad Rate 14.95%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9E14A18-3ABD-4884-BE36-B9115C87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1546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B000">
              <a:alpha val="94000"/>
            </a:srgbClr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C90F6EE-ED01-444B-802E-FF1C02E5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968496"/>
            <a:ext cx="282549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</a:rPr>
              <a:t>OOT</a:t>
            </a:r>
            <a:endParaRPr sz="12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D1A50B1-96D1-49C0-8877-3354965F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242816"/>
            <a:ext cx="28254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DF4FA"/>
                </a:solidFill>
              </a:rPr>
              <a:t>202404–202405</a:t>
            </a:r>
            <a:endParaRPr sz="10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C9CEC3A2-F646-4BAB-9EDE-686BEE5A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507992"/>
            <a:ext cx="282549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</a:rPr>
              <a:t>Bad Rate 14.13%</a:t>
            </a:r>
            <a:endParaRPr sz="11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697505F-9AFA-454B-86A7-4680CE2E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30368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1F33"/>
                </a:solidFill>
              </a:rPr>
              <a:t>TRAIN aprende  →  VALIDATION decide  →  OOT confirma</a:t>
            </a:r>
            <a:endParaRPr sz="180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F54110AA-EF62-4509-B61D-EDF7095B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788152"/>
            <a:ext cx="420624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12700">
            <a:solidFill>
              <a:srgbClr val="E8F0F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1AED535-A3CC-4928-A679-B8FFDBBD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0792" y="5852160"/>
            <a:ext cx="405993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F5ED7"/>
                </a:solidFill>
              </a:rPr>
              <a:t>Principio metodológico del proyecto</a:t>
            </a:r>
            <a:endParaRPr sz="950"/>
          </a:p>
        </p:txBody>
      </p:sp>
      <p:sp>
        <p:nvSpPr>
          <p:cNvPr id="4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B9DA505-94B5-4987-91B3-BE5AB193751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6483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4AC653B-D110-49B0-A3E8-3E57108D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El reto de negocio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F325C1-C8F4-4233-8389-9C40ABF6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No basta con predecir morosidad: debemos convertir el riesgo en una política de renovación útil.</a:t>
            </a:r>
            <a:endParaRPr sz="1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96341F1-DDBE-4ED2-9EAD-4D9ECCAD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17320"/>
            <a:ext cx="103327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0B1F33"/>
                </a:solidFill>
              </a:rPr>
              <a:t>¿Qué porcentaje de clientes podemos habilitar manteniendo el default alrededor del 8%?</a:t>
            </a:r>
            <a:endParaRPr sz="2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85A796-3E10-4E5D-B238-EBC50121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475488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8205F56-F2D6-44D2-A529-02D3FC0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64008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C06BF60-A242-4F17-B161-9448BC8C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953512"/>
            <a:ext cx="44439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Objetivo comercial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57FB616-29D6-4D4B-B84F-5ECC50F2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374136"/>
            <a:ext cx="4443984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Aprobar la mayor cantidad posible de clientes elegibles para renovación.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617E949-69D9-464E-9D34-071D448F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88920"/>
            <a:ext cx="475488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30810A-63DC-4870-B049-13996C2C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88920"/>
            <a:ext cx="64008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656"/>
          </a:solidFill>
          <a:ln xmlns:a="http://schemas.openxmlformats.org/drawingml/2006/main" w="12700">
            <a:solidFill>
              <a:srgbClr val="D9565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1EEEEF3-B896-4B19-B5F0-CA037B56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953512"/>
            <a:ext cx="44439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Objetivo de riesgo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67E7BB4-752D-4A61-96C5-EDDB52B8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3374136"/>
            <a:ext cx="4443984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Mantener el Bad Rate de los aprobados cercano al 8% sin depender de reglas opacas.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DEA809D-7000-430D-9E45-EE525A2C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926080"/>
            <a:ext cx="0" cy="1645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CBD3DE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93A4A43-C391-4C30-B34F-712EE7A1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25780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2033"/>
                </a:solidFill>
              </a:rPr>
              <a:t>La solución debe equilibrar crecimiento y riesgo, no optimizar una sola métrica.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D878592-4884-4845-8929-0F2DB9A0C4F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44264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CE728F-B03C-4A14-BE35-E6A6AFD1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Nuestra propuesta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7A035D-FBC3-41C7-A6F8-7C7AB544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Transformar comportamiento histórico en una señal de riesgo explicable y accionable.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6DFB1B-DA9A-487D-9177-C5FEEE77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283464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95AA0B-F7A1-45F5-8022-90EE4AEC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1901952"/>
            <a:ext cx="594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F5ED7"/>
                </a:solidFill>
              </a:rPr>
              <a:t>01</a:t>
            </a:r>
            <a:endParaRPr sz="2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20A384F-7D6A-4443-9CFF-92EFD029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468880"/>
            <a:ext cx="23317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B1F33"/>
                </a:solidFill>
              </a:rPr>
              <a:t>Identificar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0224B0-C6B8-4829-B2BD-83982697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35808"/>
            <a:ext cx="233172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72033"/>
                </a:solidFill>
              </a:rPr>
              <a:t>Ordenar clientes desde menor a mayor riesgo mediante PD.</a:t>
            </a:r>
            <a:endParaRPr sz="12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2BEF86-751E-4F15-90F1-C02F36AD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45920"/>
            <a:ext cx="283464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C9E6DA7-C51C-44D7-A384-7541508D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1901952"/>
            <a:ext cx="594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B8F8A"/>
                </a:solidFill>
              </a:rPr>
              <a:t>02</a:t>
            </a:r>
            <a:endParaRPr sz="2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077D0F3-E5C0-433E-ACC9-F1C6EBDF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68880"/>
            <a:ext cx="23317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B1F33"/>
                </a:solidFill>
              </a:rPr>
              <a:t>Explicar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DDF07D0-980D-426F-942C-3F985E7B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35808"/>
            <a:ext cx="233172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72033"/>
                </a:solidFill>
              </a:rPr>
              <a:t>Entender qué rangos y estados de cada variable incrementan o reducen el riesgo.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414EE44-5C9F-4DD3-A169-8F40C042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645920"/>
            <a:ext cx="283464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E706A3E-1C71-4553-85D6-2FDC1871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1901952"/>
            <a:ext cx="594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4B000"/>
                </a:solidFill>
              </a:rPr>
              <a:t>03</a:t>
            </a:r>
            <a:endParaRPr sz="24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12EE245-C298-4B1A-B5DE-78E1353F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2468880"/>
            <a:ext cx="23317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B1F33"/>
                </a:solidFill>
              </a:rPr>
              <a:t>Accionar</a:t>
            </a:r>
            <a:endParaRPr sz="2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56086AD-7A72-45E6-BDEC-2AEDDD81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35808"/>
            <a:ext cx="233172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172033"/>
                </a:solidFill>
              </a:rPr>
              <a:t>Convertir la PD en una regla simple de renovación: PD &lt; 20%.</a:t>
            </a:r>
            <a:endParaRPr sz="12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AB4BBCE-54D5-432D-A487-CCE9273D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5193792"/>
            <a:ext cx="7223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1F33"/>
                </a:solidFill>
              </a:rPr>
              <a:t>Modelo principal: WOE + Regresión Logística · 18 variables</a:t>
            </a:r>
            <a:endParaRPr sz="18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976EC6-B8FB-43BB-B47E-0E756469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5742432"/>
            <a:ext cx="402336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F5"/>
          </a:solidFill>
          <a:ln xmlns:a="http://schemas.openxmlformats.org/drawingml/2006/main" w="12700">
            <a:solidFill>
              <a:srgbClr val="EAF7F5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4853A73-8D4E-40B6-95B4-C7E3F881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232" y="5806440"/>
            <a:ext cx="387705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8F8A"/>
                </a:solidFill>
              </a:rPr>
              <a:t>Explicabilidad por diseño</a:t>
            </a:r>
            <a:endParaRPr sz="9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DE7128-9CF6-4B8D-9540-8EF4E1253AA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78327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40F63-F2D3-40DC-BE18-1B8F729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¿Cómo lo hicimos?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001BB68-BD58-42F6-B00C-7B128686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Un flujo de modelamiento diseñado para minimizar leakage, redundancia y complejidad innecesaria.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55667EC-6A0E-45E8-898E-906E2D34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020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07E09E4-B56E-4081-A92F-1FF4828D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77393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41792D-2F9B-4D71-A858-7E3005D2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86080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1</a:t>
            </a:r>
            <a:endParaRPr sz="1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3EDCFE5-A065-4D8A-8E23-F513E8D6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173736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Calidad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D7519F7-B860-4E30-8197-B141D9C7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207568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missing, tipos, centinelas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2D6B6F2-BADD-4F30-A264-E24CA33A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60020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C1ED63A-0438-40C8-9EB3-B6FDA010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77393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D8D4A54-6E76-4234-B9C6-35796D72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6080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2</a:t>
            </a:r>
            <a:endParaRPr sz="1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3AE3495-0DE9-41D8-B873-C4F37947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512" y="173736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Split temporal</a:t>
            </a:r>
            <a:endParaRPr sz="13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1C065EC-3A7F-4C4D-97AC-DCC8E5EC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512" y="207568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TRAIN / VALID / OOT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B145287-5795-4475-90C4-2022BEAB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0020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8B0114D-2912-41AF-BC83-77C3291D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177393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ABE2BE2-57A6-46E4-9454-18E57E3D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186080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3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8D63FB8-060B-4E50-8D02-9A98D41A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432" y="173736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WOE + IV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7FBA01C-D16D-49BD-9DCC-CFE79C0C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432" y="207568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bins aprendidos en TRAIN</a:t>
            </a:r>
            <a:endParaRPr sz="10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EF56A1B-1D18-405D-90EE-56566AAA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160020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8433FBB-BAFB-4E42-8D73-B1611997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7393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0A2A59D-88B7-4134-98BD-F975205C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86080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4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4CB9C10-78F7-436A-B9F5-D716CA03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173736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Selección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56A0696-FD8C-4876-B3D2-EEE1555F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07568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estabilidad + correlación</a:t>
            </a:r>
            <a:endParaRPr sz="10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83E9273-86B8-40C8-966E-21A41D4F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6616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1784569-3F87-4182-9203-5C4F69FC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73989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B0F373C-CB99-4C80-A2D6-9B34E54D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82676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5</a:t>
            </a:r>
            <a:endParaRPr sz="1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B36C9FC-96E2-405F-A278-ABC4D5EA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370332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Logística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647F9A4-97ED-4EBA-AE2B-5F67BD71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592" y="404164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significancia + coarse classing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D8B9B41-E613-4723-B36F-A1E5A6E9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56616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31C8D65-C104-43AD-991B-B0298BCC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373989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70F8680-97B0-404F-B551-3B8D1734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382676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6</a:t>
            </a:r>
            <a:endParaRPr sz="10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095816A-AF4F-4ADB-BDC8-E8C5051E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512" y="370332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Drop-One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EFB9850-A4AE-4E88-8305-83FB5CE5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6512" y="404164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20 → 18 variables</a:t>
            </a:r>
            <a:endParaRPr sz="10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2F0C2193-D6A2-4827-955F-775E6270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56616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4B11DE2-2836-45E4-87AD-9462C195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73989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E8E2B8A-8715-4DBA-9BEC-00E22596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82676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7</a:t>
            </a:r>
            <a:endParaRPr sz="10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6DF5F47-35F5-458A-BD60-91105511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432" y="370332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Validación</a:t>
            </a:r>
            <a:endParaRPr sz="13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86F0C28-0ECC-4C60-8639-F3593941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432" y="404164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Gini, KS, calibración</a:t>
            </a:r>
            <a:endParaRPr sz="10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242A8DBF-547A-44C2-B4D9-EEBDCE64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566160"/>
            <a:ext cx="233172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15CADE51-D9B3-4DA4-A576-8D4E3F92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73989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81CC802-888C-43BE-AA45-35EC1BB3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826764"/>
            <a:ext cx="4206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8</a:t>
            </a:r>
            <a:endParaRPr sz="100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CF4C06CE-81D7-419A-8047-403A75DE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3703320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Política</a:t>
            </a:r>
            <a:endParaRPr sz="13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A8B607E-FBCD-48BE-8CE8-F0FDC38E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4041648"/>
            <a:ext cx="1417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637083"/>
                </a:solidFill>
              </a:rPr>
              <a:t>cutoff PD en VALIDATION</a:t>
            </a:r>
            <a:endParaRPr sz="105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7AB43DB-119C-42DA-B30C-61AD8FC0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5669280"/>
            <a:ext cx="7406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D95656"/>
                </a:solidFill>
              </a:rPr>
              <a:t>OOT no participa en la selección de variables ni del cutoff.</a:t>
            </a:r>
            <a:endParaRPr sz="1500"/>
          </a:p>
        </p:txBody>
      </p:sp>
      <p:sp>
        <p:nvSpPr>
          <p:cNvPr id="4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943E779-00FC-40E1-B2D0-7D714A7485E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665628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10C62F1-7B0C-48A1-BCBB-234C45D0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Valores centinela: código especial ≠ dato erróneo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3B1601-A341-4E80-AA44-51136040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Los valores repetidos se validaron por frecuencia y riesgo antes de decidir cómo tratarlos.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7EB97A-FC9A-4A39-A575-19CCC9FF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3040"/>
            <a:ext cx="2926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6FB1938-DF51-407C-9130-CFB75F94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10512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0F5ED7"/>
                </a:solidFill>
              </a:rPr>
              <a:t>99</a:t>
            </a:r>
            <a:endParaRPr sz="2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0BDA26C-0645-45E1-AA59-BFD02375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2304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B1F33"/>
                </a:solidFill>
              </a:rPr>
              <a:t>M2_MORA_INTERNA_U6M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C6E3D40-B5C2-4973-BC01-50DF6FA6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1752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637083"/>
                </a:solidFill>
              </a:rPr>
              <a:t>n = 15,892</a:t>
            </a:r>
            <a:endParaRPr sz="1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85233C1-4B03-4357-957B-B106F5E2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74720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37083"/>
                </a:solidFill>
              </a:rPr>
              <a:t>Bad Rate especial</a:t>
            </a:r>
            <a:endParaRPr sz="1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0D50AB-5220-4858-95AB-3D2C27DC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438144"/>
            <a:ext cx="868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B1F33"/>
                </a:solidFill>
              </a:rPr>
              <a:t>10.19%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BDBD0A2-6027-46E5-ACC9-A29C7983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37083"/>
                </a:solidFill>
              </a:rPr>
              <a:t>Bad Rate resto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A26AA1-E44C-44D7-B214-25EF4C6B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849624"/>
            <a:ext cx="868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B1F33"/>
                </a:solidFill>
              </a:rPr>
              <a:t>20.12%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F7BC96B-FC07-4C27-B59C-46AA3D6F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463040"/>
            <a:ext cx="2926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2028629-8D90-43C0-9DA2-BA7C0A28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810512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1B8F8A"/>
                </a:solidFill>
              </a:rPr>
              <a:t>60</a:t>
            </a:r>
            <a:endParaRPr sz="2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A8E3944-C112-49D2-ADD4-372A0051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432304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B1F33"/>
                </a:solidFill>
              </a:rPr>
              <a:t>M2_CALIFICACION_SSFF_U60M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19F0708-0238-4225-8C18-837A1679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01752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637083"/>
                </a:solidFill>
              </a:rPr>
              <a:t>n = 4,783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78590B0-99AF-4DC5-A089-13DF5F14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474720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37083"/>
                </a:solidFill>
              </a:rPr>
              <a:t>Bad Rate especial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65C2B0C-31DD-4BE1-A2EC-7590181B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438144"/>
            <a:ext cx="868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B1F33"/>
                </a:solidFill>
              </a:rPr>
              <a:t>7.53%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D8024C5-D097-4594-8BDD-0B59AB3F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86200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37083"/>
                </a:solidFill>
              </a:rPr>
              <a:t>Bad Rate resto</a:t>
            </a:r>
            <a:endParaRPr sz="10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071CF3F-5CE3-4CF7-A561-0F1E54D8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3849624"/>
            <a:ext cx="868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B1F33"/>
                </a:solidFill>
              </a:rPr>
              <a:t>17.22%</a:t>
            </a:r>
            <a:endParaRPr sz="13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209755D-A5C0-4C2D-A43F-5707AADA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463040"/>
            <a:ext cx="2926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2FB1EE3-BE8C-4198-A305-9B29FFCC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810512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4B000"/>
                </a:solidFill>
              </a:rPr>
              <a:t>333333344</a:t>
            </a:r>
            <a:endParaRPr sz="2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6FEACF-AA69-4E0A-A3A3-0B8D6661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432304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0B1F33"/>
                </a:solidFill>
              </a:rPr>
              <a:t>M3_APALANCAMIENTO_INTERNO_U1M</a:t>
            </a:r>
            <a:endParaRPr sz="11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4513420-5367-4C28-A86D-FFAF36C5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3017520"/>
            <a:ext cx="2468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637083"/>
                </a:solidFill>
              </a:rPr>
              <a:t>n = 2,964</a:t>
            </a:r>
            <a:endParaRPr sz="10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626A068-F178-4C0F-8D56-2ACA2BE3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74720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37083"/>
                </a:solidFill>
              </a:rPr>
              <a:t>Bad Rate especial</a:t>
            </a:r>
            <a:endParaRPr sz="10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2596C3E-BE32-4D31-91CA-54261D9C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438144"/>
            <a:ext cx="868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B1F33"/>
                </a:solidFill>
              </a:rPr>
              <a:t>14.98%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ADF7967-FA9B-4DD0-B790-3BDD4A5F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886200"/>
            <a:ext cx="1280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37083"/>
                </a:solidFill>
              </a:rPr>
              <a:t>Bad Rate resto</a:t>
            </a:r>
            <a:endParaRPr sz="1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49CA00D-84D6-4E58-98DD-5B54B6B0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3849624"/>
            <a:ext cx="868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300" b="1">
                <a:solidFill>
                  <a:srgbClr val="0B1F33"/>
                </a:solidFill>
              </a:rPr>
              <a:t>16.11%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8DEAA39-692F-4D18-96D7-E1A56D0A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0241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2033"/>
                </a:solidFill>
              </a:rPr>
              <a:t>Decisión: conservarlos como bins independientes para evitar imponerles una interpretación numérica incorrecta.</a:t>
            </a:r>
            <a:endParaRPr sz="16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90BCC92-5583-40B8-A954-E774A0ACD42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3746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06B941-5F0C-4603-9769-B22C531E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De 45 señales a 18 variables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5D47DA6-B148-48A2-92C8-37A403CF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La reducción buscó señal útil, estabilidad temporal y aporte incremental; no “menos por menos”.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AB81517-1633-457F-85B5-69150D78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48" y="1325880"/>
            <a:ext cx="1005840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7F7"/>
          </a:solidFill>
          <a:ln xmlns:a="http://schemas.openxmlformats.org/drawingml/2006/main" w="7620">
            <a:solidFill>
              <a:srgbClr val="C9D2DE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389CA99-7B97-4E32-9F38-33E94D8C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816" y="1453896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45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3F71506-140C-40B9-AA52-B61CBF3E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048" y="1417320"/>
            <a:ext cx="73152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Predictores utilizables</a:t>
            </a:r>
            <a:endParaRPr sz="13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34DACE1-C0D6-4D92-9744-0F64BF26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48" y="1426464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37083"/>
                </a:solidFill>
              </a:rPr>
              <a:t>tras exclusiones estructurales</a:t>
            </a:r>
            <a:endParaRPr sz="9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C3F0D90-A85B-447D-9851-92BD2C4B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288" y="2112264"/>
            <a:ext cx="896112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EDEA"/>
          </a:solidFill>
          <a:ln xmlns:a="http://schemas.openxmlformats.org/drawingml/2006/main" w="7620">
            <a:solidFill>
              <a:srgbClr val="C9D2DE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B0046E8-E757-4E42-9DE0-9A292102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6456" y="2240280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42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EA7D875-D75B-48B8-8EAD-432C180F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9688" y="2203704"/>
            <a:ext cx="6217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Cobertura / estabilidad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C95336B-C591-444A-A3E3-45DADE43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3208" y="2212848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37083"/>
                </a:solidFill>
              </a:rPr>
              <a:t>AHORRO, QR y SOCIO4 fuera</a:t>
            </a:r>
            <a:endParaRPr sz="9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A4BF9F3-9E82-4270-8DD7-0C45A734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68" y="2898648"/>
            <a:ext cx="768096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E9C5"/>
          </a:solidFill>
          <a:ln xmlns:a="http://schemas.openxmlformats.org/drawingml/2006/main" w="7620">
            <a:solidFill>
              <a:srgbClr val="C9D2DE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BA17F69-33D6-4D70-9FCC-05368BBC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536" y="3026664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28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C18D01A-F512-4DD2-9819-471271A1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768" y="299008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Redundancia WOE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0EFABC3-2A37-466E-9AD5-2D6E925E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128" y="2999232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37083"/>
                </a:solidFill>
              </a:rPr>
              <a:t>correlaciones altas eliminadas</a:t>
            </a:r>
            <a:endParaRPr sz="9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84546C2-FD0E-4BC7-B6A2-2F0BACF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448" y="3685032"/>
            <a:ext cx="640080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E8EE"/>
          </a:solidFill>
          <a:ln xmlns:a="http://schemas.openxmlformats.org/drawingml/2006/main" w="7620">
            <a:solidFill>
              <a:srgbClr val="C9D2DE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DED56DD-7532-4EB0-9FD8-F23880D6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616" y="3813048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23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FC6C414-DA39-4EF1-BF5E-67CE45FA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9848" y="3776472"/>
            <a:ext cx="3657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Señal + estabilidad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CA165E-24A3-449D-AEE6-BF77E6CB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3785616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37083"/>
                </a:solidFill>
              </a:rPr>
              <a:t>variables débiles/inestables fuera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2F2FDDE-FC04-428B-9906-649B1E14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808" y="4471416"/>
            <a:ext cx="521208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CE7F1"/>
          </a:solidFill>
          <a:ln xmlns:a="http://schemas.openxmlformats.org/drawingml/2006/main" w="7620">
            <a:solidFill>
              <a:srgbClr val="C9D2DE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C4D3211-2352-4990-9580-96A5F347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0976" y="4599432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20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77F72CB-E300-4A71-A4F7-39BF3443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208" y="4562856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Modelo candidato</a:t>
            </a:r>
            <a:endParaRPr sz="13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DEDB959-941B-4B9C-816E-5DF90EFE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688" y="4572000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37083"/>
                </a:solidFill>
              </a:rPr>
              <a:t>significancia + interpretabilidad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4E4376B-08FD-4137-B4A4-24652D53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448" y="5257800"/>
            <a:ext cx="4114800" cy="58521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E5DD"/>
          </a:solidFill>
          <a:ln xmlns:a="http://schemas.openxmlformats.org/drawingml/2006/main" w="7620">
            <a:solidFill>
              <a:srgbClr val="C9D2DE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08D1DAD-D706-44A8-94E4-0B89A8E2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9616" y="5385816"/>
            <a:ext cx="6400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18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E8037F22-E571-4D7D-A1EE-A735A169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2848" y="5349240"/>
            <a:ext cx="1371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B1F33"/>
                </a:solidFill>
              </a:rPr>
              <a:t>Modelo final</a:t>
            </a:r>
            <a:endParaRPr sz="13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40C1063-CB68-4FF7-9B60-2E5C228B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048" y="5358384"/>
            <a:ext cx="24688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637083"/>
                </a:solidFill>
              </a:rPr>
              <a:t>Drop-One sobre VALIDATION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A8B1DEA-26F0-4EFF-8E84-D3E82E87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6080760"/>
            <a:ext cx="10149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2033"/>
                </a:solidFill>
              </a:rPr>
              <a:t>20 → 18 variables mejoró ligeramente el Gini de VALIDATION; eliminar una más ya reducía señal incremental.</a:t>
            </a:r>
            <a:endParaRPr sz="135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73FC04-2876-4066-AD2F-90916AC401E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76679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23D411-BB39-4A70-BBAC-832C566B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¿Por qué WOE + Regresión Logística?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4669F78-DB2A-4FFF-847E-32BC1815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Porque el objetivo no era únicamente maximizar Gini, sino construir una decisión explicable y gobernable.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95B43DE-4864-41B2-93F9-5234906C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17320"/>
            <a:ext cx="498348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4141EA4-01C5-4F30-8C73-072FB8F9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17320"/>
            <a:ext cx="64008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4FA240A-4526-4712-9D56-E63D02D3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581912"/>
            <a:ext cx="4672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Bins interpretables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742A17-9952-40C3-8010-8EC09827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002536"/>
            <a:ext cx="46725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Cada rango tiene tasa de malos y WOE observables.</a:t>
            </a:r>
            <a:endParaRPr sz="11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B57FACC-DEEA-4283-AB66-59221474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07208"/>
            <a:ext cx="498348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E33F5A-D861-454F-906D-F9417999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07208"/>
            <a:ext cx="64008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7819497-A1E7-4C24-87F2-DD265655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971800"/>
            <a:ext cx="4672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Centinelas explícitos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EF8D6C8-0F6E-4926-AE58-7DCF527D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392424"/>
            <a:ext cx="46725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Estados especiales quedan separados, no “escondidos”.</a:t>
            </a:r>
            <a:endParaRPr sz="11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92DAB99-042D-435D-A50D-67A81D36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197096"/>
            <a:ext cx="498348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A6BAE7D-8764-4447-8DF1-30665D31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197096"/>
            <a:ext cx="64008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5AD0A11-5C98-41D7-905C-D9081D61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361688"/>
            <a:ext cx="4672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18 variables</a:t>
            </a:r>
            <a:endParaRPr sz="1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EF7074F-A92C-4C3E-8571-37774AE4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4782312"/>
            <a:ext cx="46725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Menor carga de datos, implementación y monitoreo.</a:t>
            </a:r>
            <a:endParaRPr sz="11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B8C47A8-E292-43A4-B10F-D7B5026B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17320"/>
            <a:ext cx="498348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D0564F9-9A4B-462C-8398-89FF0784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17320"/>
            <a:ext cx="64008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DE45867-CCA9-4922-8B4D-28188A76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1581912"/>
            <a:ext cx="4672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Auditable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BD0A225-A1FA-41C2-817D-5041DEFC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2002536"/>
            <a:ext cx="46725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Coeficientes y transformaciones pueden reconstruirse.</a:t>
            </a:r>
            <a:endParaRPr sz="11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AD9EABF-49D9-45F7-A2C8-F80093B6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807208"/>
            <a:ext cx="498348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706A279-C186-4173-A9DA-24FC97A1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807208"/>
            <a:ext cx="64008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D477B08-D527-4679-8EDE-CF514337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2971800"/>
            <a:ext cx="4672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Estable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2D5D414-1FBF-432F-AE03-484340D4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3392424"/>
            <a:ext cx="46725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Menor brecha TRAIN–VALIDATION que CatBoost.</a:t>
            </a:r>
            <a:endParaRPr sz="11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AD9C1FA-B11E-43E7-B2D6-0D1B747F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197096"/>
            <a:ext cx="498348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3036514-B190-419A-8AB6-B491FAAC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197096"/>
            <a:ext cx="64008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F61A583-9A14-4212-AB05-ED8EDF73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4361688"/>
            <a:ext cx="46725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Accionable</a:t>
            </a:r>
            <a:endParaRPr sz="16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CAE9F4C-4213-4A8F-A267-715DDF6D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7688" y="4782312"/>
            <a:ext cx="4672584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La PD se traduce directamente en una política simple.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2C9FA83-6637-4166-96E6-2BBAF6CA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5806440"/>
            <a:ext cx="416052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F5"/>
          </a:solidFill>
          <a:ln xmlns:a="http://schemas.openxmlformats.org/drawingml/2006/main" w="12700">
            <a:solidFill>
              <a:srgbClr val="EAF7F5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985F577-8812-49A2-9742-3618EE9B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870448"/>
            <a:ext cx="40142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8F8A"/>
                </a:solidFill>
              </a:rPr>
              <a:t>Desempeño + explicabilidad + gobernanza</a:t>
            </a:r>
            <a:endParaRPr sz="950"/>
          </a:p>
        </p:txBody>
      </p:sp>
      <p:sp>
        <p:nvSpPr>
          <p:cNvPr id="3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7BB7BA4-16F3-4777-9AF0-7671EF8F685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80611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44AB48-51E6-4A43-9C54-1049BE50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Un modelo que funciona en el tiempo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23C062-A5FB-4585-A4B1-88AEF3B2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La discriminación se mantiene consistente entre TRAIN, VALIDATION y OOT.</a:t>
            </a:r>
            <a:endParaRPr sz="1200"/>
          </a:p>
        </p:txBody>
      </p:sp>
      <p:graphicFrame>
        <p:nvGraphicFramePr>
          <p:cNvPr id="29" name="Chart 0"/>
          <p:cNvGraphicFramePr/>
          <p:nvPr/>
        </p:nvGraphicFramePr>
        <p:xfrm>
          <a:off xmlns:a="http://schemas.openxmlformats.org/drawingml/2006/main" x="731520" y="1417320"/>
          <a:ext xmlns:a="http://schemas.openxmlformats.org/drawingml/2006/main" cx="6949440" cy="429768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4860c5099b402d"/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52F01004-3B09-458A-98EF-FA0904FF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72768"/>
            <a:ext cx="2971800" cy="118872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B3912F2-51AC-499B-AD7D-4CB22A28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72768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49B9144-139D-4FD4-884E-1446AE8C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719072"/>
            <a:ext cx="2651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0.796</a:t>
            </a:r>
            <a:endParaRPr sz="2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460D7D2-5169-454F-A080-0D8AB43B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2148840"/>
            <a:ext cx="2651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OOT AUC</a:t>
            </a:r>
            <a:endParaRPr sz="11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F3B2290-0110-4296-B259-4208EDF8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2404872"/>
            <a:ext cx="26517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capacidad de ranking</a:t>
            </a:r>
            <a:endParaRPr sz="95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0224EDE-0793-42D7-B8DB-ED21CDDE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2971800" cy="118872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DC6A4A3-D303-4366-A3D4-68EC6CE2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E93A3E-81EF-4220-A624-23BADF71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3118104"/>
            <a:ext cx="2651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0.593</a:t>
            </a:r>
            <a:endParaRPr sz="2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B6D7B65-EC4C-4BBD-8ECC-B311454F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3547872"/>
            <a:ext cx="2651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OOT Gini</a:t>
            </a:r>
            <a:endParaRPr sz="1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F4D478B-DBF5-4C33-A784-F142AA0D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3803904"/>
            <a:ext cx="26517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estable vs. VALIDATION</a:t>
            </a:r>
            <a:endParaRPr sz="95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7A2AACDC-AAA4-4C67-88D5-C2EB8071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70832"/>
            <a:ext cx="2971800" cy="118872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6A7980D2-BD4D-4D20-8D3B-D016278A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70832"/>
            <a:ext cx="54864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81C6E78-A65A-4B28-BEFA-C167890E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4517136"/>
            <a:ext cx="2651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0.450</a:t>
            </a:r>
            <a:endParaRPr sz="2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A4E024D-1EB5-4EBC-9193-58D78007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4946904"/>
            <a:ext cx="26517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OOT KS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7CC4FD69-D300-4800-BE43-0D1469F5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5202936"/>
            <a:ext cx="26517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separación máxima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CA6FFF7-E444-4356-A4D2-2214ED73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833872"/>
            <a:ext cx="33832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D95656"/>
                </a:solidFill>
              </a:rPr>
              <a:t>El OOT no fue usado para seleccionar variables ni cutoff.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FBC9985-B7C3-4CCD-90E2-B2B1FB6D40C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961050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F161F2-6C7A-457D-8C99-F91FB2CB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Calibración: medir riesgo, no solo ordenar clientes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09CCD13-102F-4A86-BD57-A4E6BB9F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La PD promedio es algo conservadora fuera de TRAIN, pero el ranking relativo se mantiene estable.</a:t>
            </a:r>
            <a:endParaRPr sz="1200"/>
          </a:p>
        </p:txBody>
      </p:sp>
      <p:graphicFrame>
        <p:nvGraphicFramePr>
          <p:cNvPr id="29" name="Chart 0"/>
          <p:cNvGraphicFramePr/>
          <p:nvPr/>
        </p:nvGraphicFramePr>
        <p:xfrm>
          <a:off xmlns:a="http://schemas.openxmlformats.org/drawingml/2006/main" x="640080" y="1417320"/>
          <a:ext xmlns:a="http://schemas.openxmlformats.org/drawingml/2006/main" cx="6492240" cy="4114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10583b641346a3"/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EDE02DD2-2FC4-4BED-B443-6B750411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44752"/>
            <a:ext cx="388620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1EC7AE4-5DFF-4F2E-A4DC-AE63614D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44752"/>
            <a:ext cx="64008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656"/>
          </a:solidFill>
          <a:ln xmlns:a="http://schemas.openxmlformats.org/drawingml/2006/main" w="12700">
            <a:solidFill>
              <a:srgbClr val="D95656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8EB03DC-C9E5-4AF3-AF72-281950E6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1609344"/>
            <a:ext cx="35753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Backtesting por bandas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901390B-9353-414D-BAE7-CD2A1E99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2029968"/>
            <a:ext cx="3575304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6 de 7 bandas no presentan diferencia estadísticamente significativa bajo independencia. La banda 20–30% presenta una diferencia estadísticamente significativa.</a:t>
            </a:r>
            <a:endParaRPr sz="11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9E24D3B-A342-4352-B679-B525D435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46120"/>
            <a:ext cx="3886200" cy="1600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B62E0C96-3CD0-4811-8CA6-AD6FE39C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46120"/>
            <a:ext cx="64008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85E0C6B-215E-465F-A208-142E2D34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3410712"/>
            <a:ext cx="35753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Sensibilidad Vasicek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1EE9C95-64BC-4676-A3CD-F6627C68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968" y="3831336"/>
            <a:ext cx="3575304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Con rho entre 0.5% y 3%, las 7 bandas resultan compatibles. Se usa como análisis complementario, no como “certificación Basilea”.</a:t>
            </a:r>
            <a:endParaRPr sz="11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0141283-B8BF-440F-B5FA-A5665971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5212080"/>
            <a:ext cx="3520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72033"/>
                </a:solidFill>
              </a:rPr>
              <a:t>Zona a monitorear: PD 20–30% (24.15% estimado vs 20.70% observado).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1587B02-00C0-456B-B277-880C7BF7517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199348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BA2FB5F-74BC-47D3-8627-C156FC9C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De la PD a una política de renovación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D7240E-CD8C-4D68-A568-70ACDA18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8% es el objetivo de default del negocio; PD &lt; 20% es el cutoff de PD operativo.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E26DE5-4969-4CD5-B46C-31B0C2C2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25880"/>
            <a:ext cx="443484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0B1F33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702CEC-1DF6-46AD-9150-ED85D6A0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36776"/>
            <a:ext cx="3977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300" b="1">
                <a:solidFill>
                  <a:srgbClr val="FFFFFF"/>
                </a:solidFill>
              </a:rPr>
              <a:t>HABILITAR SI  PD &lt; 20%</a:t>
            </a:r>
            <a:endParaRPr sz="2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6C1F1C2-32A6-4E33-A868-F145DE7B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3200400" cy="14630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D328ADE-39C4-4999-99EE-1DB9006A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54864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ABE2A8A-2C68-4ADD-BA3B-DCCF2286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2889504"/>
            <a:ext cx="28803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74.56%</a:t>
            </a:r>
            <a:endParaRPr sz="2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EF7443D-B1BD-46F6-93FA-B10021E5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319272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VALIDATION · Aprobación</a:t>
            </a:r>
            <a:endParaRPr sz="1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66A8322-A624-4A3F-8F9A-20842F67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3575304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Bad Rate aprobados: 8.02%</a:t>
            </a:r>
            <a:endParaRPr sz="9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1FC7662-233A-4C30-8D11-F60357CA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743200"/>
            <a:ext cx="3200400" cy="14630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EB8B94E-DDD5-48D8-8AEE-2B34E394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743200"/>
            <a:ext cx="54864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6578A4D-E49E-4F66-B377-AF4B013C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889504"/>
            <a:ext cx="28803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73.47%</a:t>
            </a:r>
            <a:endParaRPr sz="2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F1C2BA-8170-4B35-B62E-9389DE75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319272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OOT · Aprobación</a:t>
            </a:r>
            <a:endParaRPr sz="11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7A3B887-CAC7-433F-ABCB-26095EC8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3575304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Bad Rate aprobados: 6.96%</a:t>
            </a:r>
            <a:endParaRPr sz="9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914ED32-33C7-436C-8AC0-664F8F4A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743200"/>
            <a:ext cx="3200400" cy="14630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B499D4C-EC5B-43B6-9E34-28484E99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743200"/>
            <a:ext cx="54864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656"/>
          </a:solidFill>
          <a:ln xmlns:a="http://schemas.openxmlformats.org/drawingml/2006/main" w="12700">
            <a:solidFill>
              <a:srgbClr val="D95656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8D6B398-C97C-4040-B3AB-615729EC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889504"/>
            <a:ext cx="28803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63.82%</a:t>
            </a:r>
            <a:endParaRPr sz="2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ADFB9CE-6F31-45EA-B5ED-78BEBBDF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19272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OOT · Riesgo concentrado</a:t>
            </a:r>
            <a:endParaRPr sz="11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BCEDF80-FA34-4E33-9267-2DBE684E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575304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de los malos quedan en rechazados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A69897E-AB67-45B0-94E0-16A5F9A3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937760"/>
            <a:ext cx="9326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0B1F33"/>
                </a:solidFill>
              </a:rPr>
              <a:t>26.53% de clientes rechazados concentra 63.82% de los malos en OOT.</a:t>
            </a:r>
            <a:endParaRPr sz="17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7B3BBBA-80B3-4BD4-B738-68F07DEA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5458968"/>
            <a:ext cx="9052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172033"/>
                </a:solidFill>
              </a:rPr>
              <a:t>La política queda en línea con el objetivo de 8% en VALIDATION y por debajo en OOT.</a:t>
            </a: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604CD5A-EA8F-491A-A11C-94B35638303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741586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E25F801-AC04-484B-8B82-1703A837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El 20% no es un punto accidental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3EC900-BB69-46A8-8E97-8D2311EA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La política cambia de forma gradual alrededor del cutoff seleccionado.</a:t>
            </a:r>
            <a:endParaRPr sz="1200"/>
          </a:p>
        </p:txBody>
      </p:sp>
      <p:graphicFrame>
        <p:nvGraphicFramePr>
          <p:cNvPr id="29" name="Chart 0"/>
          <p:cNvGraphicFramePr/>
          <p:nvPr/>
        </p:nvGraphicFramePr>
        <p:xfrm>
          <a:off xmlns:a="http://schemas.openxmlformats.org/drawingml/2006/main" x="685800" y="1417320"/>
          <a:ext xmlns:a="http://schemas.openxmlformats.org/drawingml/2006/main" cx="7315200" cy="44805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4498ad56824725"/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C742939D-AC1C-45B0-998D-AE472048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72768"/>
            <a:ext cx="2926080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433CDEC-1ABE-45A1-AC6B-B375DBC0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72768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DD92B7D-3BF6-4A29-8ED3-80610D4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737360"/>
            <a:ext cx="2615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Cutoff elegido</a:t>
            </a:r>
            <a:endParaRPr sz="1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A7DDCDC-924D-414D-9F84-433282BC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2157984"/>
            <a:ext cx="2615184" cy="667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El 8% es el objetivo de default del negocio. PD &lt; 20% es el cutoff de PD operativo.</a:t>
            </a:r>
            <a:endParaRPr sz="11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84036FF-D51D-464E-8923-450C48F2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310128"/>
            <a:ext cx="2926080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F257B838-3568-4BB8-BD3A-B22C2F46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310128"/>
            <a:ext cx="64008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FC1CFED-436A-457B-8988-6CF8BDD7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3474720"/>
            <a:ext cx="2615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B1F33"/>
                </a:solidFill>
              </a:rPr>
              <a:t>Robustez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4BD0259-EB0A-47CF-A225-66B83F1F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3895344"/>
            <a:ext cx="2615184" cy="667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72033"/>
                </a:solidFill>
              </a:rPr>
              <a:t>No existen saltos abruptos entre 17% y 23%; la política se encuentra en una zona estable.</a:t>
            </a:r>
            <a:endParaRPr sz="11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7540031-A534-4E1B-8943-03DCA6FD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166360"/>
            <a:ext cx="30175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0B1F33"/>
                </a:solidFill>
              </a:rPr>
              <a:t>OOT mantiene 73.47% de aprobación y 6.96% de Bad Rate sin reajustar el cutoff.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C43FA9-D73D-4B69-8F3F-F797F9C650F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356291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D50498D-5477-4598-92AA-C15519EE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Benchmark: CatBoost mejora, pero ¿cuánto?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05C8202-F1C0-4377-AB5E-FBD108B0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La comparación usa la misma base, exclusiones y split temporal.</a:t>
            </a:r>
            <a:endParaRPr sz="1200"/>
          </a:p>
        </p:txBody>
      </p:sp>
      <p:graphicFrame>
        <p:nvGraphicFramePr>
          <p:cNvPr id="29" name="Chart 0"/>
          <p:cNvGraphicFramePr/>
          <p:nvPr/>
        </p:nvGraphicFramePr>
        <p:xfrm>
          <a:off xmlns:a="http://schemas.openxmlformats.org/drawingml/2006/main" x="640080" y="1371600"/>
          <a:ext xmlns:a="http://schemas.openxmlformats.org/drawingml/2006/main" cx="6766560" cy="44805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b1eb5b6c084124"/>
          </a:graphicData>
        </a:graphic>
      </p:graphicFrame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E1706BD-97E9-4EAA-B5C2-864969E9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554480"/>
            <a:ext cx="32004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9BF12AA-BB14-40BB-8C9E-E43ECF63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55448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6D31FC5-B973-4627-B6DF-4BFC6635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1700784"/>
            <a:ext cx="28803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+1.64 pts</a:t>
            </a:r>
            <a:endParaRPr sz="2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AA9F751-47EA-48AB-9BE5-C052E1B0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130552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Mejora CatBoost · OOT</a:t>
            </a:r>
            <a:endParaRPr sz="11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F2C389F-E811-441D-AD94-9246438A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386584"/>
            <a:ext cx="288036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Gini 0.609 vs 0.593</a:t>
            </a:r>
            <a:endParaRPr sz="95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AE613AE5-65BE-4186-ABC8-B80DAA50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3017520"/>
            <a:ext cx="32004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A0C79776-0C69-49BC-8F8C-CEA023E7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30175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656"/>
          </a:solidFill>
          <a:ln xmlns:a="http://schemas.openxmlformats.org/drawingml/2006/main" w="12700">
            <a:solidFill>
              <a:srgbClr val="D9565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D9C833A-EF21-44E0-BD55-56020D1A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163824"/>
            <a:ext cx="28803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11.00 pts</a:t>
            </a:r>
            <a:endParaRPr sz="2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39F6F8B-8DA9-4AA8-9F3E-2D975068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593592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Brecha TRAIN→VALID</a:t>
            </a:r>
            <a:endParaRPr sz="1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D6242C9-FCA3-41F0-B6A2-51AF69AC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849624"/>
            <a:ext cx="288036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CatBoost vs 1.74 pts logística</a:t>
            </a:r>
            <a:endParaRPr sz="95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4F27B91-103C-4ACD-8929-EED7B3EF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480560"/>
            <a:ext cx="3200400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6949E433-F37F-40E9-B578-9EAC3D39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48056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0B8EC85-18E4-4D61-9611-C5981C40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4626864"/>
            <a:ext cx="28803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0B1F33"/>
                </a:solidFill>
              </a:rPr>
              <a:t>18</a:t>
            </a:r>
            <a:endParaRPr sz="2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4498DF-B32F-4D3B-8B88-B83737EB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5056632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72033"/>
                </a:solidFill>
              </a:rPr>
              <a:t>Variables modelo final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E71D72A-8432-464D-A0DC-BD27D2319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5312664"/>
            <a:ext cx="288036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637083"/>
                </a:solidFill>
              </a:rPr>
              <a:t>vs 45 predictores benchmark</a:t>
            </a:r>
            <a:endParaRPr sz="9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234C833-2225-47D0-A67C-80D7008AA0D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83997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02F77BA-863A-467C-BAAC-DD56CCAE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¿Por qué elegimos la logística?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65E4B52-70A9-4BE7-AF43-59D122CD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Aceptamos una pequeña pérdida de Gini OOT a cambio de una solución sustancialmente más simple y explicable.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9405186-051E-4BB0-BCCA-1C0C5738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29260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6133BD-7C09-4BE9-9605-93A3CC4E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563624"/>
            <a:ext cx="277977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</a:rPr>
              <a:t>Criterio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AF0B0C1-F6DC-4EA3-BDD5-A8577C8E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417320"/>
            <a:ext cx="228600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1D2B23D-D36D-4750-B4F6-DEEBE16C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1563624"/>
            <a:ext cx="21396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</a:rPr>
              <a:t>Logística WOE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096F64C-353F-402A-ABF9-E2D0A1D1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417320"/>
            <a:ext cx="228600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9738ED6-9E12-429C-8AE4-6F74640C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1563624"/>
            <a:ext cx="21396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</a:rPr>
              <a:t>CatBoost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6EB2B4A-69FA-4F46-94B8-8C6E8541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417320"/>
            <a:ext cx="32918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E90310C-8C03-43F3-9CBF-F8F73FA4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563624"/>
            <a:ext cx="314553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FFFFFF"/>
                </a:solidFill>
              </a:rPr>
              <a:t>Lectura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062AF6A-5142-45A3-BDC8-7EA57A4E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7672"/>
            <a:ext cx="292608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1DF4228-0EF6-45E5-905B-189E34E9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093976"/>
            <a:ext cx="27797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72033"/>
                </a:solidFill>
              </a:rPr>
              <a:t>Gini OOT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FB3C4AB-675D-402A-86D5-FF867B61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947672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931F43F-CE98-4483-9DAF-12D188D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2093976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0.593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B2C3B04-9872-4488-AD5E-0721F43E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947672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1A01264-60F1-4FB3-83F5-9A61B836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2093976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0.609</a:t>
            </a:r>
            <a:endParaRPr sz="10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038915A-BD50-4CC2-B859-AE9274C3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947672"/>
            <a:ext cx="329184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BD67267-DC53-4228-8C2A-8B0ECA60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093976"/>
            <a:ext cx="31455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37083"/>
                </a:solidFill>
              </a:rPr>
              <a:t>CatBoost +1.64 pts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C4EB61A-323B-446E-A7B9-5BB9302B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9464"/>
            <a:ext cx="292608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34CDC50-2E1D-4241-B523-296150FE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715768"/>
            <a:ext cx="27797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72033"/>
                </a:solidFill>
              </a:rPr>
              <a:t>Variables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7E03558-AA15-4946-81D4-95BFFAD6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569464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DDDE298-3F19-461D-B165-7A28EA38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2715768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18</a:t>
            </a:r>
            <a:endParaRPr sz="10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237F847-21DE-497E-AFB7-833CCD28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569464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F6B7CC9-B233-4393-8CAD-1CB5F01C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2715768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45</a:t>
            </a:r>
            <a:endParaRPr sz="10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1DA9C01-5439-48D0-9D31-0D08ADA4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569464"/>
            <a:ext cx="329184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6B22BF4-BC1D-4072-BF1C-E9196034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715768"/>
            <a:ext cx="31455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37083"/>
                </a:solidFill>
              </a:rPr>
              <a:t>Logística más parsimoniosa</a:t>
            </a:r>
            <a:endParaRPr sz="10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0D7287E-FD08-4BC7-A50A-FC147803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1256"/>
            <a:ext cx="292608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A3F4113-F0D4-4F15-935B-DD8FD020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337560"/>
            <a:ext cx="27797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72033"/>
                </a:solidFill>
              </a:rPr>
              <a:t>Explicabilidad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98E4CB5C-EE1E-448F-83B6-C83D4966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191256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13EB264-9964-4A1E-B203-F5459F31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3337560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Alta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C244D802-7C89-4F43-93B2-73CF17D8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191256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74BDA41-3221-4A0E-AFB6-E7F8013F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3337560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Media</a:t>
            </a:r>
            <a:endParaRPr sz="10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34E8E10-8E06-4230-ACD5-01D98BB7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191256"/>
            <a:ext cx="329184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6D98B7E-7DAB-414B-8824-4828669E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3337560"/>
            <a:ext cx="31455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37083"/>
                </a:solidFill>
              </a:rPr>
              <a:t>bins + Bad Rate + WOE</a:t>
            </a:r>
            <a:endParaRPr sz="10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0791EAB-C967-47CD-98EA-CB42D050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3048"/>
            <a:ext cx="292608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67A86D0-A9D8-45DA-BCDA-64C659C5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959352"/>
            <a:ext cx="27797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72033"/>
                </a:solidFill>
              </a:rPr>
              <a:t>TRAIN→VALID gap</a:t>
            </a:r>
            <a:endParaRPr sz="10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900CD693-83BE-43A1-981D-61657CBB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813048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CC0FEF9-AE16-4ACF-9526-BF0E0CC3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3959352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1.74 pts</a:t>
            </a:r>
            <a:endParaRPr sz="10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64714A18-E00B-469C-9963-A5F57DDF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813048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E301085A-020B-4D28-A543-429AC2B4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3959352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11.00 pts</a:t>
            </a:r>
            <a:endParaRPr sz="10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4A74F7D-C6D9-4C1A-98E5-3E2CE59F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813048"/>
            <a:ext cx="329184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AAB17A66-FBE2-4743-B8AF-76356863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3959352"/>
            <a:ext cx="31455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37083"/>
                </a:solidFill>
              </a:rPr>
              <a:t>menor brecha logística</a:t>
            </a:r>
            <a:endParaRPr sz="10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2B94C5F7-C5B1-42F4-A9A3-2B372C01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4840"/>
            <a:ext cx="292608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3DF562B6-F04B-468D-A830-B03CFDB4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581144"/>
            <a:ext cx="27797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72033"/>
                </a:solidFill>
              </a:rPr>
              <a:t>Implementación</a:t>
            </a:r>
            <a:endParaRPr sz="10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08D3B5D5-453B-4212-8E4B-73BCB6AA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434840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FFEE8FF1-DA94-4FDA-A0D1-691A290A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4581144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Simple</a:t>
            </a:r>
            <a:endParaRPr sz="10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E6A5C2E-57FC-4359-B93C-D2F31168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434840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590C4AC3-1294-432D-BE8A-C596DB72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4581144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Mayor complejidad</a:t>
            </a:r>
            <a:endParaRPr sz="10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499DFC10-3005-4FE8-9B14-0204B42F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434840"/>
            <a:ext cx="329184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A4A93EEC-C36B-4CAC-B2C7-6A700BC5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4581144"/>
            <a:ext cx="31455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37083"/>
                </a:solidFill>
              </a:rPr>
              <a:t>menos dependencias y reglas</a:t>
            </a:r>
            <a:endParaRPr sz="10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4B6F5ABD-9A3B-4E37-922B-0308540C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6632"/>
            <a:ext cx="292608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071C0639-D623-4DA4-9A6A-538856C3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202936"/>
            <a:ext cx="277977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72033"/>
                </a:solidFill>
              </a:rPr>
              <a:t>Gobernanza</a:t>
            </a:r>
            <a:endParaRPr sz="10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EA2FF3D8-A1F0-45F0-AF07-246AECE2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5056632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FDA4644-68DE-4850-91BD-7CBDDF9C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032" y="5202936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Directa</a:t>
            </a:r>
            <a:endParaRPr sz="10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2B225E24-DF88-411A-BC91-20934D01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5056632"/>
            <a:ext cx="228600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C5D85458-EB3D-4FF0-A9A1-4EAC3347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5202936"/>
            <a:ext cx="21396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Requiere XAI adicional</a:t>
            </a:r>
            <a:endParaRPr sz="10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46396594-E222-4F5B-B6A4-4F60348A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56632"/>
            <a:ext cx="3291840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9A779314-6C83-4B06-A262-B1152A97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5202936"/>
            <a:ext cx="314553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37083"/>
                </a:solidFill>
              </a:rPr>
              <a:t>auditoría más sencilla</a:t>
            </a:r>
            <a:endParaRPr sz="1050"/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C8942CEA-80C4-4833-BCB0-6AC81A99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897880"/>
            <a:ext cx="7955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0B1F33"/>
                </a:solidFill>
              </a:rPr>
              <a:t>Elección final: WOE + Regresión Logística de 18 variables</a:t>
            </a:r>
            <a:endParaRPr sz="1800"/>
          </a:p>
        </p:txBody>
      </p:sp>
      <p:sp>
        <p:nvSpPr>
          <p:cNvPr id="6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2A74281-BCBC-4CAC-85E8-165126DD5CA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26609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4B68DAC-1873-4752-875A-9ACBC448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De modelo a solución operativa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E65400B-A7CE-483D-8BCC-97638F01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La entrega final está diseñada para ser reproducible, auditable y monitoreable.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C08A609-615B-4E0E-970E-EE6FDF4B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08760"/>
            <a:ext cx="2286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F78E463-8AC8-44BE-8BAC-A8E08971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752" y="17830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ED7"/>
          </a:solidFill>
          <a:ln xmlns:a="http://schemas.openxmlformats.org/drawingml/2006/main" w="12700">
            <a:solidFill>
              <a:srgbClr val="0F5ED7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085955C-0D0B-42AE-9AF1-EF1FFD2E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19202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1F33"/>
                </a:solidFill>
              </a:rPr>
              <a:t>Artefacto único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D8AFC56-F5F6-419C-A268-D0D8C816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46120"/>
            <a:ext cx="19202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modelo_logistico_woe.pkl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modelo + bins + variables + cutoff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F5DE99E-1DD0-4C42-A918-F87F92FE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508760"/>
            <a:ext cx="2286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A5F8310-D446-4A4B-B280-8B692798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7830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8F8A"/>
          </a:solidFill>
          <a:ln xmlns:a="http://schemas.openxmlformats.org/drawingml/2006/main" w="12700">
            <a:solidFill>
              <a:srgbClr val="1B8F8A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849BC4F-7A5E-4012-95E8-3522DB57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697480"/>
            <a:ext cx="19202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1F33"/>
                </a:solidFill>
              </a:rPr>
              <a:t>Código reproducible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71B4BB2-9AC2-4285-972A-8BEC8164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246120"/>
            <a:ext cx="19202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notebooks + src/predict.py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requirements.txt + config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FD7254E-64F3-42D0-9575-F77ED2B2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8760"/>
            <a:ext cx="2286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EDA60DB-F999-4164-B4E6-BBC457E5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17830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72593FA-CA1D-4BC1-824F-D23301B0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19202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1F33"/>
                </a:solidFill>
              </a:rPr>
              <a:t>Monitoreo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CF220B7-4F06-42C2-A6A1-5D0B7FC6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246120"/>
            <a:ext cx="19202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Gini · KS · PSI · calibración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calidad de datos y centinelas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0B244BC-F97D-45D3-ACEE-FAE9AE09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1508760"/>
            <a:ext cx="22860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55726CC-3335-4F9A-932C-F646A611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17830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656"/>
          </a:solidFill>
          <a:ln xmlns:a="http://schemas.openxmlformats.org/drawingml/2006/main" w="12700">
            <a:solidFill>
              <a:srgbClr val="D95656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B976300-4CBE-4873-8492-613C865F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697480"/>
            <a:ext cx="19202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B1F33"/>
                </a:solidFill>
              </a:rPr>
              <a:t>Cumplimiento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A13EE66-3185-4F54-A419-2DD27213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246120"/>
            <a:ext cx="19202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documentación + trazabilidad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MCP/NotebookLM con normativa SBS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B2BDD17-53ED-43BC-8158-5A3B090A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166360"/>
            <a:ext cx="9601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B1F33"/>
                </a:solidFill>
              </a:rPr>
              <a:t>La explicabilidad no es una slide: está embebida en la arquitectura del modelo y en la forma de desplegarlo.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E60374A-2D74-469E-8666-69B669540DB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63457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52AD31-1A33-499A-9459-0123124B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000"/>
          </a:solidFill>
          <a:ln xmlns:a="http://schemas.openxmlformats.org/drawingml/2006/main" w="12700">
            <a:solidFill>
              <a:srgbClr val="F4B000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789A8AD-93B1-43C0-BCFE-203469B6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234440"/>
            <a:ext cx="102412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</a:rPr>
              <a:t>De los datos a una decisión de riesgo explicable</a:t>
            </a:r>
            <a:endParaRPr sz="3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1CB6B99-98DC-4B26-A0FF-5CCDF5EA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3160"/>
            <a:ext cx="10332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C5D2DF"/>
                </a:solidFill>
              </a:rPr>
              <a:t>18 variables · Gini OOT 0.593 · PD &lt; 20% · 73.47% aprobación · 6.96% Bad Rate OOT</a:t>
            </a:r>
            <a:endParaRPr sz="16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A4433AE-A787-42FA-8ED5-45CB22B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429000"/>
            <a:ext cx="617220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02B46"/>
          </a:solidFill>
          <a:ln xmlns:a="http://schemas.openxmlformats.org/drawingml/2006/main" w="12700">
            <a:solidFill>
              <a:srgbClr val="2B4964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FC4DD98-CEE7-4AA3-A82B-BC4D6341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794760"/>
            <a:ext cx="5532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4B000"/>
                </a:solidFill>
              </a:rPr>
              <a:t>Una solución que prioriza desempeño, explicabilidad y capacidad de implementación.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D539B3E-E340-4D46-AC8D-0E4D2501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71500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FFFFF"/>
                </a:solidFill>
              </a:rPr>
              <a:t>Gracias</a:t>
            </a:r>
            <a:endParaRPr sz="2100"/>
          </a:p>
        </p:txBody>
      </p:sp>
    </p:spTree>
    <p:extLst>
      <p:ext uri="{BB962C8B-B14F-4D97-AF65-F5344CB8AC3E}">
        <p14:creationId xmlns:p14="http://schemas.microsoft.com/office/powerpoint/2010/main" val="102456413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34C54AC-54BE-42D8-BA74-DF019FFD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Apéndice A — 18 variables finales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750C80-05AC-40E4-BA46-FB72EDF0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Variables retenidas tras calidad, estabilidad, redundancia y Drop-One.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F06BD77-946A-4DA3-928A-FC19EEA8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280160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FADBF5-0BB2-465F-98EA-8A2CA73F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371600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M1_MORA_INTERNA_U6M</a:t>
            </a:r>
            <a:endParaRPr sz="9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AF6932E-DF62-4698-8D8A-D4CEC765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10512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9768B05-38B7-4CDE-9D61-92FAAA10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901952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M1_MORA_INTERNA_U1M</a:t>
            </a:r>
            <a:endParaRPr sz="9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35B0010-F403-4B58-AF02-6BA69937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40864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051FD4B-24A2-4661-8484-B8D60DDB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432304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M2_MORA_INTERNA_U6M</a:t>
            </a:r>
            <a:endParaRPr sz="9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14602A6-76CB-4723-9837-892828E9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71216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A61E8C1-8DBE-48A4-B835-FB47276C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62656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M1_APALANCAMIENTO_INTERNO_U6M</a:t>
            </a:r>
            <a:endParaRPr sz="9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CDA5456-B2E0-4912-9AA0-9230015A8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01568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FFE6876-328E-4264-A049-9273366E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93008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SOCIODEMOGRAFICO_1</a:t>
            </a:r>
            <a:endParaRPr sz="9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FE7FA73-3333-43E4-8519-AEFF375E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7B35ECA-9C08-4E1B-8CF8-4D405255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023360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M3_APALANCAMIENTO_INTERNO_U1M</a:t>
            </a:r>
            <a:endParaRPr sz="9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6EF6C0C-79DF-4E6A-B694-FF7D0417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62272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20C73C-DADF-4A7C-B1AA-3389E1F2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53712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M1_MORA_SSFF_U36M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43F92E1-5165-4005-B1F8-2C8D5A96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92624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C9CC74E-C0BC-45F7-A0E0-4F1916CA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084064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M1_APALANCAMIENTO_SSFF_U36M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E93815-BDD1-4E95-87B8-5D0772C1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22976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E6B50FD-2039-4C95-B2E6-67B819CC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14416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M1_DESAPALANCAMIENTO_SSFF_U12M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1F77449-672D-4E10-A4AB-2C33DE8B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280160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471E245-1C3E-4188-B57D-12E91097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371600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M3_APALANCAMIENTO_SSFF_U12M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6A4C1FE9-B1C2-47E4-BDAB-14C6BA15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10512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CC3A829-8CA3-45A7-9C2C-ED71A0B9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01952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M1_PRODUCTOS_SSFF_U1M</a:t>
            </a:r>
            <a:endParaRPr sz="9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AED2E24-9223-4FBC-A78B-54B03CD9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0864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E2C1FED-C9B1-4711-9845-E4799F93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32304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DEUDA_PROMEDIO_SSFF</a:t>
            </a:r>
            <a:endParaRPr sz="9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FB0F63E-4567-479D-86ED-494F72CF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71216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F476948-591D-4436-9C49-C317A064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962656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M1_CALIFICACION_SSFF_U60M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6740449-DAC7-4490-B3F9-22F2A80F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01568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A23CD16-CB56-4E14-A6A5-A9B4CDF1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93008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M2_CALIFICACION_SSFF_U60M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5BA0BFBD-E521-470B-AABC-EF967A7C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3B08319-84B1-432C-8566-80BC42DA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023360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M1_DESAPALANCAMIENTO_INTERNO_U12M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F0810A5-182E-4CD6-AF8F-E65F48C1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2272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1FCBDE8-4271-4363-9498-1EF3739A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553712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M1_ANTIGUEDAD_SSFF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30E6960-E2B5-4634-9479-882E833A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92624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C1E726B-1D17-4280-B843-EDEE43C4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084064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M1_LINEA_TARJETACREDITO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0989FBC9-619B-496C-A938-2008004C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2976"/>
            <a:ext cx="49377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7ED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0D5967A-F283-47B9-B969-F15BE4FF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614416"/>
            <a:ext cx="46634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72033"/>
                </a:solidFill>
              </a:rPr>
              <a:t>M1_TRX_CASHIN_U3M</a:t>
            </a:r>
            <a:endParaRPr sz="950"/>
          </a:p>
        </p:txBody>
      </p:sp>
      <p:sp>
        <p:nvSpPr>
          <p:cNvPr id="4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BF53ACE-5A98-49E9-B66B-0349E1024DE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63343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4D74D9-C22A-4115-ADDE-5766A3FC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Apéndice B — Backtesting por bandas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815EF3D-B4E8-48E5-9E76-6A9D8E42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Comparación entre PD promedio y Bad Rate observado en VALIDATION.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BCAF70-0CC8-42EE-A0F1-49A202F4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8760"/>
            <a:ext cx="19202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7FB5974-FBC7-4444-BCC6-4856398B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636776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Banda PD</a:t>
            </a:r>
            <a:endParaRPr sz="10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C23A7C-4A3B-451B-8FD4-EC4C61A6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08760"/>
            <a:ext cx="2011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E3CE5CA-342B-486B-897B-DC27ED3B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1636776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PD promedio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691171C-C669-4CEC-A4A6-27BE78B8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508760"/>
            <a:ext cx="2011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60A792B-DB49-410C-93C2-11BF0E7F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1636776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Bad Rate real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EFC2917-9F7B-44CC-8E98-C5B8A2C7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08760"/>
            <a:ext cx="16459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10566FC-202C-474C-B3BD-6CDE94A0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1636776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Gap pp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3121383-34CB-439C-BC07-A91841B9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508760"/>
            <a:ext cx="2103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6350">
            <a:solidFill>
              <a:srgbClr val="FFFFF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419D572-90D9-47B2-A205-D99EA718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1636776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Independencia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E3FF0B8-16D9-4A6C-A04F-06C788F3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168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690A276-AB02-4772-B8FF-49E6CC16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15798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0–5%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B4CD46B-3BE0-4F76-A322-7F195BFC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01168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82FC844-A5B3-4EFF-8368-8FAD2123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215798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2.73%</a:t>
            </a:r>
            <a:endParaRPr sz="10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3F77D25-5CFB-4371-ACC4-76289389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01168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D5921A-AF85-4431-A482-C925AC98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215798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2.94%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D0989A9-781F-4624-A513-75B2A80D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1168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F1DE6D-7A56-45A6-9F6E-8601F1E3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215798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-0.21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5BAEC34-3403-4815-BD18-01917FA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01168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AF9993B-F48F-4110-9A60-95C1D935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215798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Compatible</a:t>
            </a:r>
            <a:endParaRPr sz="10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1994D21-148C-4961-9A5A-1BC67134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032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C633E79-D49C-49E8-8E42-09C95102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70662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5–10%</a:t>
            </a:r>
            <a:endParaRPr sz="10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3543C91-8130-44BF-BA22-5A33D294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56032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C505F7C-A0F5-4639-B719-9B009338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270662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7.39%</a:t>
            </a:r>
            <a:endParaRPr sz="10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A7810F6-7604-462B-9E2A-00D1B0B3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56032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F073005-7E10-4BB3-950F-C9E2DCAD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270662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6.57%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A312E27-BCC6-4BC4-8F8F-D2438A64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6032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4BE9484-BA51-4F78-B75B-79EFADF7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270662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+0.82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6BFF3F3-A184-468D-BFB5-37DFDDA6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56032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14E14CF-4F98-48A1-8E2B-6A389420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270662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Compatible</a:t>
            </a:r>
            <a:endParaRPr sz="10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1DA7BCD-696F-4653-900F-A26BD2AC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896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898E3ADC-B3DA-43F7-B618-6D3B8B58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5526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10–15%</a:t>
            </a:r>
            <a:endParaRPr sz="10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81B0CFE-5638-43BC-97D6-BA721D10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10896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68624B2-76F6-4F4B-994B-3D7F70CF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325526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12.38%</a:t>
            </a:r>
            <a:endParaRPr sz="10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731A34B0-DF09-4E6B-BA8A-0ACEBD66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10896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AA0188E-8754-4BBB-B105-CBC3BE93A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325526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11.47%</a:t>
            </a:r>
            <a:endParaRPr sz="10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BE186603-FA77-4F09-B401-80C24608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0896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EB10136-293B-41CD-AC8D-2FB26A22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325526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+0.91</a:t>
            </a:r>
            <a:endParaRPr sz="10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ECC3C994-3E4A-4FB8-A659-92721AB1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0896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C6183F2-6479-4A9D-8EED-4A539511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325526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Compatible</a:t>
            </a:r>
            <a:endParaRPr sz="10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836C9111-C66A-419B-AFAB-5BB8D6F5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9E19BFA4-6AE5-41B8-8C1F-7A4F671F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80390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15–20%</a:t>
            </a:r>
            <a:endParaRPr sz="10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D623D235-6409-4C94-ACE8-E2A8EF9C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65760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576EEB0-79CA-4640-9DC1-D4480948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380390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17.35%</a:t>
            </a:r>
            <a:endParaRPr sz="10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DC2AFE95-34C0-4B95-A641-31F676E3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65760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0AEA0D2A-06AD-48E2-90B7-A28B34D6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380390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17.36%</a:t>
            </a:r>
            <a:endParaRPr sz="10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B76D569E-BF2C-4E5C-94BE-929A14E5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5760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B89E2512-2346-4076-A624-A13FB523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380390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-0.01</a:t>
            </a:r>
            <a:endParaRPr sz="10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5FA92AC1-FF80-43C6-92F7-3511A19D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65760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528CA5F6-EEB6-4A33-9F4D-DFCF7E15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380390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Compatible</a:t>
            </a:r>
            <a:endParaRPr sz="10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385C55EF-6C01-4932-9AC0-4EB72043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0624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1867718F-3F44-4B9D-AFBF-85A1D05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35254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20–30%</a:t>
            </a:r>
            <a:endParaRPr sz="10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DAFE6F3B-AF1C-4A56-9572-66971FA6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20624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58C32B4F-C6DB-467B-A6EE-B9BEF084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435254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24.15%</a:t>
            </a:r>
            <a:endParaRPr sz="10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2C7F3F6E-F4E9-4960-B797-645D297E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20624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B39EAB8A-E0C4-4D82-B779-E47D635B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35254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20.70%</a:t>
            </a:r>
            <a:endParaRPr sz="10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F6ED066F-5BF3-4FA7-AD01-11C98F21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0624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66A2E6E8-4C50-4901-A693-06055AF5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435254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72033"/>
                </a:solidFill>
              </a:rPr>
              <a:t>+3.44</a:t>
            </a:r>
            <a:endParaRPr sz="10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EB44CEE5-E797-493C-BD53-CEC475B8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20624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6E6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7AF6613A-9D88-4998-A844-311531EB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435254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D95656"/>
                </a:solidFill>
              </a:rPr>
              <a:t>Diferencia estadísticamente significativa</a:t>
            </a:r>
            <a:endParaRPr sz="10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8A63792F-95D2-4BF3-9874-90E37679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557E6440-D05F-4D57-B233-B4C060C5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90118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30–40%</a:t>
            </a:r>
            <a:endParaRPr sz="10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F031B56F-C0F9-49F2-9C17-6D2506BD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75488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BCB2B02F-307D-4F9C-871C-CB6F8D53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490118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34.55%</a:t>
            </a:r>
            <a:endParaRPr sz="105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19B111B9-D4B0-47DD-8BF1-9D998E7D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75488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A9BEA120-4637-4D9A-9859-6EC00C28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490118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34.08%</a:t>
            </a:r>
            <a:endParaRPr sz="105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F79C4BB3-7325-4E48-AB8D-3757411C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488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F066A124-944C-43E0-8234-2B37E1AB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490118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+0.47</a:t>
            </a:r>
            <a:endParaRPr sz="105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718D3B7E-274F-4EB4-9209-58B27DF5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5488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F497571-D9A1-40B5-B0ED-4AF28F5B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490118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Compatible</a:t>
            </a:r>
            <a:endParaRPr sz="105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A006D4E1-2724-460D-806A-5CC7B487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03520"/>
            <a:ext cx="19202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614845A8-6544-48F5-965E-AD3152A0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5449824"/>
            <a:ext cx="18105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40%+</a:t>
            </a:r>
            <a:endParaRPr sz="10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92B6924E-5783-45BB-9693-926A9BBB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30352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C88C13C1-551B-4D3A-B94F-E735C90A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544982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57.63%</a:t>
            </a:r>
            <a:endParaRPr sz="105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5BD5D344-AC2B-436B-81EF-1F835C33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5303520"/>
            <a:ext cx="20116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1EE1923E-76A3-4823-BB16-E59FFCF8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184" y="5449824"/>
            <a:ext cx="19019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54.90%</a:t>
            </a:r>
            <a:endParaRPr sz="1050"/>
          </a:p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8E3ADD75-4304-4D77-9047-7BBE4964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03520"/>
            <a:ext cx="16459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DBB738A9-D61C-45C7-B1CE-6A41AC49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864" y="5449824"/>
            <a:ext cx="15361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+2.73</a:t>
            </a:r>
            <a:endParaRPr sz="1050"/>
          </a:p>
        </p:txBody>
      </p:sp>
      <p:sp>
        <p:nvSpPr>
          <p:cNvPr id="82" name="Shape 80">
            <a:extLst xmlns:a="http://schemas.openxmlformats.org/drawingml/2006/main">
              <a:ext uri="{FF2B5EF4-FFF2-40B4-BE49-F238E27FC236}">
                <a16:creationId xmlns:a16="http://schemas.microsoft.com/office/drawing/2014/main" id="{DFAC6739-99FD-4AAC-AD88-1939A30E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303520"/>
            <a:ext cx="210312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DE3EB"/>
            </a:solidFill>
            <a:prstDash val="solid"/>
          </a:ln>
        </p:spPr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D6D71374-24FB-4AB3-AD75-E1E11C29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8784" y="5449824"/>
            <a:ext cx="199339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Compatible</a:t>
            </a:r>
            <a:endParaRPr sz="1050"/>
          </a:p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D0075B22-9132-4184-9568-BF52ACA2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742432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B8F8A"/>
                </a:solidFill>
              </a:rPr>
              <a:t>Sensibilidad Vasicek (rho 0.5%–3%): 7 de 7 bandas compatibles.</a:t>
            </a:r>
            <a:endParaRPr sz="1400"/>
          </a:p>
        </p:txBody>
      </p:sp>
      <p:sp>
        <p:nvSpPr>
          <p:cNvPr id="8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559C86B-0600-4212-94F2-A53598AE71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3487757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F1449F-7296-4796-8534-8D2B3E38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7472"/>
            <a:ext cx="10972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rPr>
              <a:t>Apéndice C — Robustez del cutoff</a:t>
            </a:r>
            <a:endParaRPr sz="25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9201BBA-1A13-4C09-8E38-26DBC88A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841248"/>
            <a:ext cx="10789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637083"/>
                </a:solidFill>
              </a:rPr>
              <a:t>Resultados completos alrededor del 20%.</a:t>
            </a:r>
            <a:endParaRPr sz="1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BC6D572-C28E-4558-B09E-B51E221D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37160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2468737-A50B-44DA-A00B-CD3F599B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572768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Cutoff</a:t>
            </a:r>
            <a:endParaRPr sz="10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DDC602C-9C32-4E90-B6C7-8D64290D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1417320"/>
            <a:ext cx="2194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C5F288E-5359-454E-964E-E350D47C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1572768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Aprob. VALID</a:t>
            </a:r>
            <a:endParaRPr sz="10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FD89A3D-3670-49C4-8B4D-34EB4157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17320"/>
            <a:ext cx="19202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85F2730-ACC8-448F-9E2A-F2A52B31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72768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BR VALID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B8217A2-1D94-47EF-A8A8-50B2217E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417320"/>
            <a:ext cx="2194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9320558-DE29-4686-A202-6C153A79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72768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Aprob. OOT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3441EB8-50B3-4E9C-B52C-1B378506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17320"/>
            <a:ext cx="192024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7A2A6EA-2A2E-4E39-9F14-8E9C7056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572768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</a:rPr>
              <a:t>BR OOT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DCEC89C-B5E0-4C4C-A410-319C9831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47672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9CB714C-49AD-4D35-B8EE-88E8EEC5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03120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17%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5A9EB04-D23E-4BC1-8D79-6EA517DE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1947672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1CFB327-0920-46A5-B994-BC5D98F9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103120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68.42%</a:t>
            </a:r>
            <a:endParaRPr sz="10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0169D35-FD7A-4640-AF36-8DC5B63C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7672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D82108B-1EB5-4C08-9FAE-84F01ED6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103120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7.02%</a:t>
            </a:r>
            <a:endParaRPr sz="10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DCC9881-E23E-42DE-9E45-58C77A66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947672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3A447-63E1-4315-800D-2E66B686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66.68%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D95C66A-A134-46A4-8DAB-F6C45E43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47672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60447DF-AF45-4B26-8818-A85E6FC1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103120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6.02%</a:t>
            </a:r>
            <a:endParaRPr sz="10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75262B7-0AD7-4EC9-9665-CB433386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514600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FB274CB-F5D8-415B-8211-B5A13F74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670048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18%</a:t>
            </a:r>
            <a:endParaRPr sz="10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10C9F06-1984-4CCC-84A1-1F773035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514600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E500F48-87CA-4366-93B2-AE34C00F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670048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70.59%</a:t>
            </a:r>
            <a:endParaRPr sz="10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65E583F-7AE2-44EA-99E5-E94A84BF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14600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C5F910B-8EF0-4D19-88AD-06F8C13E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670048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7.28%</a:t>
            </a:r>
            <a:endParaRPr sz="10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F2E875E-36D7-46D8-8172-10982318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14600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F535D08-6F21-4BA1-9B45-953A7542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670048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69.16%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3AED45F-4E33-4673-8367-F7CEEEC6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14600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DA881E6-A2E8-45F1-8762-5AA151A4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670048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6.38%</a:t>
            </a:r>
            <a:endParaRPr sz="10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4993F08-90F1-419D-AEC0-1B337F53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81528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2895833-BC7C-423A-813C-5F5C514E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36976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19%</a:t>
            </a:r>
            <a:endParaRPr sz="10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926E1DAB-149B-4560-8C6B-5A55B755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081528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DBA4FF8-9EF0-46B2-BF72-A7941314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3236976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72.66%</a:t>
            </a:r>
            <a:endParaRPr sz="10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05C53800-6D7C-4EC1-B2D7-DD98C148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81528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4B769F43-E680-47A6-B57E-782C1E17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236976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7.67%</a:t>
            </a:r>
            <a:endParaRPr sz="10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8EF0127E-B957-4644-A537-1377E097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81528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82D742B-9540-4A9F-91F0-EA29AA29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36976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71.41%</a:t>
            </a:r>
            <a:endParaRPr sz="10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29983DE8-F970-44E0-BE48-4D600783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81528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80E905AF-0CF5-4858-9486-CE3B6CA6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236976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6.62%</a:t>
            </a:r>
            <a:endParaRPr sz="10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D7D240A5-4805-47CB-A88C-769E1BD6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48456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311C807B-D102-47F9-B7B1-3FD1ED04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803904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B1F33"/>
                </a:solidFill>
              </a:rPr>
              <a:t>20%</a:t>
            </a:r>
            <a:endParaRPr sz="10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BFF01511-55E8-4AFE-9043-8D1BA51F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648456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2292653D-3861-4399-8CD1-13338026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3803904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B1F33"/>
                </a:solidFill>
              </a:rPr>
              <a:t>74.56%</a:t>
            </a:r>
            <a:endParaRPr sz="10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C8D4DA6-B345-4301-B4D9-846411FE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48456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318B2768-D7C2-4004-8E83-763F9988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3803904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B1F33"/>
                </a:solidFill>
              </a:rPr>
              <a:t>8.02%</a:t>
            </a:r>
            <a:endParaRPr sz="10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DE675336-E612-430B-A7AD-A294B21C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648456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8B8B224C-09C5-411C-A94A-7BDA065F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03904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B1F33"/>
                </a:solidFill>
              </a:rPr>
              <a:t>73.47%</a:t>
            </a:r>
            <a:endParaRPr sz="10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B164F476-A8CC-4303-B2EC-7C9D19F1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48456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C0BD7002-2196-438A-94D2-4E36C5E5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03904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B1F33"/>
                </a:solidFill>
              </a:rPr>
              <a:t>6.96%</a:t>
            </a:r>
            <a:endParaRPr sz="10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DBECFD72-BD1B-4777-9FD2-126E5A74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15384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25544ED8-A9F0-4DEC-A0A2-9D382C51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370832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21%</a:t>
            </a:r>
            <a:endParaRPr sz="10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67265600-3942-4EF7-83FE-B48671B3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215384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C23BE4DC-C0D0-4CC0-B0E2-C697FF48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4370832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76.31%</a:t>
            </a:r>
            <a:endParaRPr sz="10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0B5E9E54-C2E2-4F1C-A370-CE32AF23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15384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189B95D7-B5AE-4A77-A1EB-F53C09ED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370832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8.26%</a:t>
            </a:r>
            <a:endParaRPr sz="10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433D0BE0-7381-4140-B3F9-D0A757A3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215384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004BEA55-DF6F-48EF-9B7E-8183608A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70832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75.09%</a:t>
            </a:r>
            <a:endParaRPr sz="10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6C198B59-354E-4787-B6DD-24ED3337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15384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5E437DA7-9745-4509-9259-284DCC03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370832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7.28%</a:t>
            </a:r>
            <a:endParaRPr sz="10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FD3AA915-54CC-452B-AC9D-D58E37C3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782312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0DB87F70-09D0-45E9-85E7-6C0336DA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37760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22%</a:t>
            </a:r>
            <a:endParaRPr sz="10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019A0AC9-585F-4031-8DC7-BF7DC769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782312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94AB435A-B62D-4E79-931B-AC0C6B79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4937760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77.99%</a:t>
            </a:r>
            <a:endParaRPr sz="105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D799EFF1-CBBD-4A26-B295-ACBE1F9E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82312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6CDB0043-16EA-4B99-80B5-25BAC09F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937760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8.52%</a:t>
            </a:r>
            <a:endParaRPr sz="105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A984103E-B9B2-4013-812C-C3662477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782312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6D283C21-22B9-4C6B-867A-A6A6B8B7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76.72%</a:t>
            </a:r>
            <a:endParaRPr sz="105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DB12DD36-7E3B-4249-A4F3-53683000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82312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153C005B-82BB-4944-9D6E-D7CA5F2E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937760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7.48%</a:t>
            </a:r>
            <a:endParaRPr sz="105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279673C4-A4D4-4039-92F0-E3A9A0B9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49240"/>
            <a:ext cx="13716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8E73E2AD-1FDE-45B7-8FF0-B8E92F08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04688"/>
            <a:ext cx="12801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23%</a:t>
            </a:r>
            <a:endParaRPr sz="10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14A65C42-083A-4878-86E3-7C23C1F9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5349240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E07397D5-D131-40BE-AF18-E375973D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504688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79.36%</a:t>
            </a:r>
            <a:endParaRPr sz="105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A6C3A8BA-471C-4D6C-B7A4-37B9FACD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49240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03EC1B6B-2A51-4F94-B039-ECFD9B66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5504688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8.79%</a:t>
            </a:r>
            <a:endParaRPr sz="1050"/>
          </a:p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45BF8952-B078-4004-842E-AB3B287A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349240"/>
            <a:ext cx="21945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73DBBF17-6520-4284-A789-E4ED7D4A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504688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78.21%</a:t>
            </a:r>
            <a:endParaRPr sz="1050"/>
          </a:p>
        </p:txBody>
      </p:sp>
      <p:sp>
        <p:nvSpPr>
          <p:cNvPr id="82" name="Shape 80">
            <a:extLst xmlns:a="http://schemas.openxmlformats.org/drawingml/2006/main">
              <a:ext uri="{FF2B5EF4-FFF2-40B4-BE49-F238E27FC236}">
                <a16:creationId xmlns:a16="http://schemas.microsoft.com/office/drawing/2014/main" id="{A8964579-32A9-4A45-A7BA-95FF9E31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49240"/>
            <a:ext cx="19202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DE3EB"/>
            </a:solidFill>
            <a:prstDash val="solid"/>
          </a:ln>
        </p:spPr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50BF9DFD-74AA-4BFC-8500-3A82E92E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5504688"/>
            <a:ext cx="1828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172033"/>
                </a:solidFill>
              </a:rPr>
              <a:t>7.67%</a:t>
            </a:r>
            <a:endParaRPr sz="1050"/>
          </a:p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61624E6A-7CAF-485C-BA5E-EA0B4F56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6080760"/>
            <a:ext cx="8503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2033"/>
                </a:solidFill>
              </a:rPr>
              <a:t>20% se encuentra en una zona estable: la política cambia gradualmente, no por saltos.</a:t>
            </a:r>
            <a:endParaRPr sz="1350"/>
          </a:p>
        </p:txBody>
      </p:sp>
      <p:sp>
        <p:nvSpPr>
          <p:cNvPr id="8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03C6B40-3082-45F9-9A0F-AC42390F923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750040" y="6455664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rgbClr val="7A8492"/>
                </a:solidFill>
                <a:latin typeface="Aptos"/>
                <a:ea typeface="Aptos"/>
                <a:cs typeface="Aptos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02990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2026-09-28T07:43:13.6710000Z</dcterms:created>
  <dcterms:modified xsi:type="dcterms:W3CDTF">2026-09-28T07:43:13.6710000Z</dcterms:modified>
</coreProperties>
</file>